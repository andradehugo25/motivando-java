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6"/>
  </p:sldMasterIdLst>
  <p:notesMasterIdLst>
    <p:notesMasterId r:id="rId17"/>
  </p:notesMasterIdLst>
  <p:sldIdLst>
    <p:sldId id="386" r:id="rId7"/>
    <p:sldId id="395" r:id="rId8"/>
    <p:sldId id="396" r:id="rId9"/>
    <p:sldId id="397" r:id="rId10"/>
    <p:sldId id="398" r:id="rId11"/>
    <p:sldId id="401" r:id="rId12"/>
    <p:sldId id="402" r:id="rId13"/>
    <p:sldId id="399" r:id="rId14"/>
    <p:sldId id="400" r:id="rId15"/>
    <p:sldId id="264" r:id="rId16"/>
  </p:sldIdLst>
  <p:sldSz cx="12192000" cy="6858000"/>
  <p:notesSz cx="6858000" cy="9144000"/>
  <p:defaultTextStyle>
    <a:defPPr>
      <a:defRPr lang="en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DBC27D"/>
    <a:srgbClr val="002E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1FF7B4-D51D-0906-0EAF-4067D7E38825}" v="1183" dt="2025-11-13T19:29:46.4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8" autoAdjust="0"/>
    <p:restoredTop sz="94584"/>
  </p:normalViewPr>
  <p:slideViewPr>
    <p:cSldViewPr snapToGrid="0">
      <p:cViewPr varScale="1">
        <p:scale>
          <a:sx n="96" d="100"/>
          <a:sy n="96" d="100"/>
        </p:scale>
        <p:origin x="108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5" Type="http://schemas.openxmlformats.org/officeDocument/2006/relationships/customXml" Target="../customXml/item5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customXml" Target="../customXml/item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E0AFF-A830-2E41-98FE-A52948FB0127}" type="datetimeFigureOut">
              <a:rPr lang="en-BR" smtClean="0"/>
              <a:t>11/13/2025</a:t>
            </a:fld>
            <a:endParaRPr lang="en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A64958-D2A9-CF40-BA55-5F12563B3A8E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369023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DE APRESENT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lue background with squares&#10;&#10;Description automatically generated">
            <a:extLst>
              <a:ext uri="{FF2B5EF4-FFF2-40B4-BE49-F238E27FC236}">
                <a16:creationId xmlns:a16="http://schemas.microsoft.com/office/drawing/2014/main" id="{2B564D75-EE00-994E-5BBD-A3D04C7B6BC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black and gold square pattern&#10;&#10;Description automatically generated">
            <a:extLst>
              <a:ext uri="{FF2B5EF4-FFF2-40B4-BE49-F238E27FC236}">
                <a16:creationId xmlns:a16="http://schemas.microsoft.com/office/drawing/2014/main" id="{6FF6889B-20F5-BD15-190F-FB9503CF58B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06059" y="2323070"/>
            <a:ext cx="1611279" cy="2050214"/>
          </a:xfrm>
          <a:prstGeom prst="rect">
            <a:avLst/>
          </a:prstGeom>
        </p:spPr>
      </p:pic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1971910A-A7BA-F294-FB83-66F3C1F32B2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24399" y="292207"/>
            <a:ext cx="6910333" cy="10602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D7C5CD-79AE-70D1-0740-D04CB5086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7396" y="2311677"/>
            <a:ext cx="5150012" cy="1301993"/>
          </a:xfrm>
        </p:spPr>
        <p:txBody>
          <a:bodyPr anchor="t">
            <a:normAutofit/>
          </a:bodyPr>
          <a:lstStyle>
            <a:lvl1pPr algn="l"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B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37F208-5023-E3EE-3B60-BAA7FEFAB1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7397" y="3750196"/>
            <a:ext cx="5150012" cy="623087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DBC27D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BR" dirty="0"/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24FBCCC5-8857-FA83-A2D3-7FD00E20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97396" y="4513860"/>
            <a:ext cx="2743200" cy="365125"/>
          </a:xfrm>
        </p:spPr>
        <p:txBody>
          <a:bodyPr/>
          <a:lstStyle>
            <a:lvl1pPr algn="l">
              <a:defRPr sz="1800">
                <a:solidFill>
                  <a:schemeClr val="bg1"/>
                </a:solidFill>
              </a:defRPr>
            </a:lvl1pPr>
          </a:lstStyle>
          <a:p>
            <a:fld id="{A957ACB7-3B98-794B-A389-31CB1B0AAAD8}" type="datetime1">
              <a:rPr lang="en-US" smtClean="0"/>
              <a:pPr/>
              <a:t>11/13/2025</a:t>
            </a:fld>
            <a:endParaRPr lang="en-BR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A7B236DA-F2C4-D04A-85AF-BCEAB169D9BD}"/>
              </a:ext>
            </a:extLst>
          </p:cNvPr>
          <p:cNvGrpSpPr/>
          <p:nvPr userDrawn="1"/>
        </p:nvGrpSpPr>
        <p:grpSpPr>
          <a:xfrm>
            <a:off x="1629265" y="5662067"/>
            <a:ext cx="3292216" cy="698713"/>
            <a:chOff x="1629265" y="5662067"/>
            <a:chExt cx="3292216" cy="698713"/>
          </a:xfrm>
        </p:grpSpPr>
        <p:pic>
          <p:nvPicPr>
            <p:cNvPr id="11" name="Imagem 10" descr="Interface gráfica do usuário&#10;&#10;Descrição gerada automaticamente com confiança média">
              <a:extLst>
                <a:ext uri="{FF2B5EF4-FFF2-40B4-BE49-F238E27FC236}">
                  <a16:creationId xmlns:a16="http://schemas.microsoft.com/office/drawing/2014/main" id="{9086F775-2056-712F-1DB6-AC86698517F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l="1" t="-1" r="74429" b="-6259"/>
            <a:stretch/>
          </p:blipFill>
          <p:spPr>
            <a:xfrm>
              <a:off x="1629265" y="5662067"/>
              <a:ext cx="525424" cy="698713"/>
            </a:xfrm>
            <a:prstGeom prst="rect">
              <a:avLst/>
            </a:prstGeom>
          </p:spPr>
        </p:pic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752B93FB-03BB-1089-749A-7BA68D938E71}"/>
                </a:ext>
              </a:extLst>
            </p:cNvPr>
            <p:cNvSpPr txBox="1"/>
            <p:nvPr userDrawn="1"/>
          </p:nvSpPr>
          <p:spPr>
            <a:xfrm>
              <a:off x="2273254" y="5749813"/>
              <a:ext cx="26482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pt-BR" sz="1400" dirty="0">
                  <a:solidFill>
                    <a:schemeClr val="bg1"/>
                  </a:solidFill>
                </a:rPr>
                <a:t>Departamento de Operações do Mercado Aberto (Demab)</a:t>
              </a:r>
            </a:p>
          </p:txBody>
        </p:sp>
        <p:cxnSp>
          <p:nvCxnSpPr>
            <p:cNvPr id="13" name="Conector reto 12">
              <a:extLst>
                <a:ext uri="{FF2B5EF4-FFF2-40B4-BE49-F238E27FC236}">
                  <a16:creationId xmlns:a16="http://schemas.microsoft.com/office/drawing/2014/main" id="{4299A71E-0E3A-4D9B-DCC0-E7F97EB28688}"/>
                </a:ext>
              </a:extLst>
            </p:cNvPr>
            <p:cNvCxnSpPr/>
            <p:nvPr userDrawn="1"/>
          </p:nvCxnSpPr>
          <p:spPr>
            <a:xfrm>
              <a:off x="2257303" y="5800064"/>
              <a:ext cx="0" cy="43598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21619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05747-3F99-9740-CA15-B0AD30B46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84086"/>
          </a:xfrm>
        </p:spPr>
        <p:txBody>
          <a:bodyPr>
            <a:noAutofit/>
          </a:bodyPr>
          <a:lstStyle>
            <a:lvl1pPr>
              <a:defRPr sz="2800" b="1">
                <a:solidFill>
                  <a:srgbClr val="002E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B00BA-6B8D-527A-53EC-EA6667443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7101"/>
            <a:ext cx="10515600" cy="435133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120641-A0FB-8D88-B787-C0DF0735AD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00334" y="-399931"/>
            <a:ext cx="2554175" cy="18326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27F3D38-1E84-C8A8-61CE-5B87732960B5}"/>
              </a:ext>
            </a:extLst>
          </p:cNvPr>
          <p:cNvSpPr/>
          <p:nvPr userDrawn="1"/>
        </p:nvSpPr>
        <p:spPr>
          <a:xfrm>
            <a:off x="0" y="341629"/>
            <a:ext cx="792480" cy="384085"/>
          </a:xfrm>
          <a:prstGeom prst="rect">
            <a:avLst/>
          </a:prstGeom>
          <a:solidFill>
            <a:srgbClr val="DBC2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5F373FE-47A2-A873-14DF-80CB6953D252}"/>
              </a:ext>
            </a:extLst>
          </p:cNvPr>
          <p:cNvGrpSpPr/>
          <p:nvPr userDrawn="1"/>
        </p:nvGrpSpPr>
        <p:grpSpPr>
          <a:xfrm>
            <a:off x="-14481" y="5911850"/>
            <a:ext cx="12206481" cy="946150"/>
            <a:chOff x="-14481" y="5911850"/>
            <a:chExt cx="12206481" cy="946150"/>
          </a:xfrm>
        </p:grpSpPr>
        <p:pic>
          <p:nvPicPr>
            <p:cNvPr id="14" name="Picture 13" descr="A black and gold background with squares&#10;&#10;Description automatically generated">
              <a:extLst>
                <a:ext uri="{FF2B5EF4-FFF2-40B4-BE49-F238E27FC236}">
                  <a16:creationId xmlns:a16="http://schemas.microsoft.com/office/drawing/2014/main" id="{AF515A0F-D28A-9819-1F3F-0513AF81C8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t="23435" r="462"/>
            <a:stretch/>
          </p:blipFill>
          <p:spPr>
            <a:xfrm>
              <a:off x="-14481" y="5911850"/>
              <a:ext cx="8840848" cy="946150"/>
            </a:xfrm>
            <a:prstGeom prst="rect">
              <a:avLst/>
            </a:prstGeom>
          </p:spPr>
        </p:pic>
        <p:pic>
          <p:nvPicPr>
            <p:cNvPr id="15" name="Picture 14" descr="A black and gold background with squares&#10;&#10;Description automatically generated">
              <a:extLst>
                <a:ext uri="{FF2B5EF4-FFF2-40B4-BE49-F238E27FC236}">
                  <a16:creationId xmlns:a16="http://schemas.microsoft.com/office/drawing/2014/main" id="{C89B35FB-AAEF-CB54-57D8-0260BCEAAC6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t="23436" r="62220" b="-1"/>
            <a:stretch/>
          </p:blipFill>
          <p:spPr>
            <a:xfrm>
              <a:off x="8836415" y="5911850"/>
              <a:ext cx="3355585" cy="946150"/>
            </a:xfrm>
            <a:prstGeom prst="rect">
              <a:avLst/>
            </a:prstGeom>
          </p:spPr>
        </p:pic>
      </p:grpSp>
      <p:sp>
        <p:nvSpPr>
          <p:cNvPr id="4" name="CaixaDeTexto 3">
            <a:extLst>
              <a:ext uri="{FF2B5EF4-FFF2-40B4-BE49-F238E27FC236}">
                <a16:creationId xmlns:a16="http://schemas.microsoft.com/office/drawing/2014/main" id="{1DA4A0BE-33DB-DBA8-829A-3182D12EBFD4}"/>
              </a:ext>
            </a:extLst>
          </p:cNvPr>
          <p:cNvSpPr txBox="1"/>
          <p:nvPr userDrawn="1"/>
        </p:nvSpPr>
        <p:spPr>
          <a:xfrm>
            <a:off x="6597363" y="6344917"/>
            <a:ext cx="4805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Departamento de Operações do Mercado Aberto (Demab)</a:t>
            </a:r>
          </a:p>
        </p:txBody>
      </p:sp>
    </p:spTree>
    <p:extLst>
      <p:ext uri="{BB962C8B-B14F-4D97-AF65-F5344CB8AC3E}">
        <p14:creationId xmlns:p14="http://schemas.microsoft.com/office/powerpoint/2010/main" val="3816729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/SUBTÍTULO E TEXTO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05747-3F99-9740-CA15-B0AD30B46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84086"/>
          </a:xfrm>
        </p:spPr>
        <p:txBody>
          <a:bodyPr>
            <a:noAutofit/>
          </a:bodyPr>
          <a:lstStyle>
            <a:lvl1pPr>
              <a:defRPr sz="2800" b="1">
                <a:solidFill>
                  <a:srgbClr val="002E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B00BA-6B8D-527A-53EC-EA6667443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4269"/>
            <a:ext cx="10515600" cy="404417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120641-A0FB-8D88-B787-C0DF0735AD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00334" y="-399931"/>
            <a:ext cx="2554175" cy="18326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27F3D38-1E84-C8A8-61CE-5B87732960B5}"/>
              </a:ext>
            </a:extLst>
          </p:cNvPr>
          <p:cNvSpPr/>
          <p:nvPr userDrawn="1"/>
        </p:nvSpPr>
        <p:spPr>
          <a:xfrm>
            <a:off x="0" y="341629"/>
            <a:ext cx="792480" cy="384085"/>
          </a:xfrm>
          <a:prstGeom prst="rect">
            <a:avLst/>
          </a:prstGeom>
          <a:solidFill>
            <a:srgbClr val="DBC2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1658BFF-EE23-8C29-5280-ED1C80259212}"/>
              </a:ext>
            </a:extLst>
          </p:cNvPr>
          <p:cNvSpPr txBox="1">
            <a:spLocks/>
          </p:cNvSpPr>
          <p:nvPr userDrawn="1"/>
        </p:nvSpPr>
        <p:spPr>
          <a:xfrm>
            <a:off x="838200" y="862838"/>
            <a:ext cx="10515600" cy="3840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2E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000" dirty="0"/>
              <a:t>Click to edit Master title style</a:t>
            </a:r>
            <a:endParaRPr lang="en-BR" sz="20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B475AC3-C5BF-357E-D9E8-5C1B64F4480A}"/>
              </a:ext>
            </a:extLst>
          </p:cNvPr>
          <p:cNvGrpSpPr/>
          <p:nvPr userDrawn="1"/>
        </p:nvGrpSpPr>
        <p:grpSpPr>
          <a:xfrm>
            <a:off x="0" y="5911850"/>
            <a:ext cx="12206481" cy="946150"/>
            <a:chOff x="-14481" y="5911850"/>
            <a:chExt cx="12206481" cy="946150"/>
          </a:xfrm>
        </p:grpSpPr>
        <p:pic>
          <p:nvPicPr>
            <p:cNvPr id="6" name="Picture 5" descr="A black and gold background with squares&#10;&#10;Description automatically generated">
              <a:extLst>
                <a:ext uri="{FF2B5EF4-FFF2-40B4-BE49-F238E27FC236}">
                  <a16:creationId xmlns:a16="http://schemas.microsoft.com/office/drawing/2014/main" id="{99DD9A09-057B-46F5-5133-DBF6054D0C7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t="23435" r="462"/>
            <a:stretch/>
          </p:blipFill>
          <p:spPr>
            <a:xfrm>
              <a:off x="-14481" y="5911850"/>
              <a:ext cx="8840848" cy="946150"/>
            </a:xfrm>
            <a:prstGeom prst="rect">
              <a:avLst/>
            </a:prstGeom>
          </p:spPr>
        </p:pic>
        <p:pic>
          <p:nvPicPr>
            <p:cNvPr id="9" name="Picture 8" descr="A black and gold background with squares&#10;&#10;Description automatically generated">
              <a:extLst>
                <a:ext uri="{FF2B5EF4-FFF2-40B4-BE49-F238E27FC236}">
                  <a16:creationId xmlns:a16="http://schemas.microsoft.com/office/drawing/2014/main" id="{C3DC797C-2BC9-845B-4C09-B5D5DE497EB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 t="23436" r="62220" b="-1"/>
            <a:stretch/>
          </p:blipFill>
          <p:spPr>
            <a:xfrm>
              <a:off x="8836415" y="5911850"/>
              <a:ext cx="3355585" cy="946150"/>
            </a:xfrm>
            <a:prstGeom prst="rect">
              <a:avLst/>
            </a:prstGeom>
          </p:spPr>
        </p:pic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08752A6-C627-BC17-CFDC-08C88705EF3C}"/>
              </a:ext>
            </a:extLst>
          </p:cNvPr>
          <p:cNvSpPr txBox="1"/>
          <p:nvPr userDrawn="1"/>
        </p:nvSpPr>
        <p:spPr>
          <a:xfrm>
            <a:off x="6597363" y="6344917"/>
            <a:ext cx="4805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Departamento de Operações do Mercado Aberto (Demab)</a:t>
            </a:r>
          </a:p>
        </p:txBody>
      </p:sp>
    </p:spTree>
    <p:extLst>
      <p:ext uri="{BB962C8B-B14F-4D97-AF65-F5344CB8AC3E}">
        <p14:creationId xmlns:p14="http://schemas.microsoft.com/office/powerpoint/2010/main" val="3849188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EXTO COM FOTO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05747-3F99-9740-CA15-B0AD30B46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2391"/>
            <a:ext cx="5782519" cy="384086"/>
          </a:xfrm>
        </p:spPr>
        <p:txBody>
          <a:bodyPr>
            <a:noAutofit/>
          </a:bodyPr>
          <a:lstStyle>
            <a:lvl1pPr>
              <a:defRPr sz="2800" b="1">
                <a:solidFill>
                  <a:srgbClr val="002E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B00BA-6B8D-527A-53EC-EA6667443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436" y="1840375"/>
            <a:ext cx="5691283" cy="376429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FAC7F-C1B6-7002-F007-C9E5FD2AE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3082A-AC63-6D4A-AEE7-BEB9FED88B03}" type="slidenum">
              <a:rPr lang="en-BR" smtClean="0"/>
              <a:t>‹nº›</a:t>
            </a:fld>
            <a:endParaRPr lang="en-B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120641-A0FB-8D88-B787-C0DF0735AD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-399931"/>
            <a:ext cx="2554175" cy="18326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27F3D38-1E84-C8A8-61CE-5B87732960B5}"/>
              </a:ext>
            </a:extLst>
          </p:cNvPr>
          <p:cNvSpPr/>
          <p:nvPr userDrawn="1"/>
        </p:nvSpPr>
        <p:spPr>
          <a:xfrm>
            <a:off x="0" y="1194690"/>
            <a:ext cx="792480" cy="384085"/>
          </a:xfrm>
          <a:prstGeom prst="rect">
            <a:avLst/>
          </a:prstGeom>
          <a:solidFill>
            <a:srgbClr val="DBC2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E76E02-0CD8-F745-152C-718AAF72FF91}"/>
              </a:ext>
            </a:extLst>
          </p:cNvPr>
          <p:cNvSpPr/>
          <p:nvPr userDrawn="1"/>
        </p:nvSpPr>
        <p:spPr>
          <a:xfrm>
            <a:off x="7551915" y="0"/>
            <a:ext cx="4640085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r>
              <a:rPr lang="en-BR" dirty="0"/>
              <a:t>oto aqui</a:t>
            </a:r>
          </a:p>
        </p:txBody>
      </p:sp>
      <p:pic>
        <p:nvPicPr>
          <p:cNvPr id="13" name="Picture 12" descr="A black and gold background with squares&#10;&#10;Description automatically generated">
            <a:extLst>
              <a:ext uri="{FF2B5EF4-FFF2-40B4-BE49-F238E27FC236}">
                <a16:creationId xmlns:a16="http://schemas.microsoft.com/office/drawing/2014/main" id="{69747806-2CBD-6874-B334-AACBE5D8C48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23435"/>
          <a:stretch/>
        </p:blipFill>
        <p:spPr>
          <a:xfrm>
            <a:off x="-14482" y="6051982"/>
            <a:ext cx="7566397" cy="80601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E6013D4-2CCD-873B-54E0-B052A4582CE2}"/>
              </a:ext>
            </a:extLst>
          </p:cNvPr>
          <p:cNvSpPr txBox="1"/>
          <p:nvPr userDrawn="1"/>
        </p:nvSpPr>
        <p:spPr>
          <a:xfrm>
            <a:off x="666657" y="6429633"/>
            <a:ext cx="4805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Departamento de Operações do Mercado Aberto (Demab)</a:t>
            </a:r>
          </a:p>
        </p:txBody>
      </p:sp>
    </p:spTree>
    <p:extLst>
      <p:ext uri="{BB962C8B-B14F-4D97-AF65-F5344CB8AC3E}">
        <p14:creationId xmlns:p14="http://schemas.microsoft.com/office/powerpoint/2010/main" val="36303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/SUBTÍTULO E TEXTO COM FOTO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05747-3F99-9740-CA15-B0AD30B46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2391"/>
            <a:ext cx="5782519" cy="384086"/>
          </a:xfrm>
        </p:spPr>
        <p:txBody>
          <a:bodyPr>
            <a:noAutofit/>
          </a:bodyPr>
          <a:lstStyle>
            <a:lvl1pPr>
              <a:defRPr sz="2800" b="1">
                <a:solidFill>
                  <a:srgbClr val="002E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B00BA-6B8D-527A-53EC-EA6667443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436" y="2407534"/>
            <a:ext cx="5691283" cy="3197134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FAC7F-C1B6-7002-F007-C9E5FD2AE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3082A-AC63-6D4A-AEE7-BEB9FED88B03}" type="slidenum">
              <a:rPr lang="en-BR" smtClean="0"/>
              <a:t>‹nº›</a:t>
            </a:fld>
            <a:endParaRPr lang="en-BR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120641-A0FB-8D88-B787-C0DF0735AD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-399931"/>
            <a:ext cx="2554175" cy="183261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27F3D38-1E84-C8A8-61CE-5B87732960B5}"/>
              </a:ext>
            </a:extLst>
          </p:cNvPr>
          <p:cNvSpPr/>
          <p:nvPr userDrawn="1"/>
        </p:nvSpPr>
        <p:spPr>
          <a:xfrm>
            <a:off x="0" y="1194690"/>
            <a:ext cx="792480" cy="384085"/>
          </a:xfrm>
          <a:prstGeom prst="rect">
            <a:avLst/>
          </a:prstGeom>
          <a:solidFill>
            <a:srgbClr val="DBC2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E76E02-0CD8-F745-152C-718AAF72FF91}"/>
              </a:ext>
            </a:extLst>
          </p:cNvPr>
          <p:cNvSpPr/>
          <p:nvPr userDrawn="1"/>
        </p:nvSpPr>
        <p:spPr>
          <a:xfrm>
            <a:off x="7551915" y="0"/>
            <a:ext cx="4640085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r>
              <a:rPr lang="en-BR" dirty="0"/>
              <a:t>oto aqui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5899C2-D51E-00AC-CAC1-0B659A91CDCC}"/>
              </a:ext>
            </a:extLst>
          </p:cNvPr>
          <p:cNvSpPr txBox="1">
            <a:spLocks/>
          </p:cNvSpPr>
          <p:nvPr userDrawn="1"/>
        </p:nvSpPr>
        <p:spPr>
          <a:xfrm>
            <a:off x="838200" y="1764826"/>
            <a:ext cx="5782519" cy="3840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002E59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000"/>
              <a:t>Click to edit Master title style</a:t>
            </a:r>
            <a:endParaRPr lang="en-BR" sz="2000" dirty="0"/>
          </a:p>
        </p:txBody>
      </p:sp>
      <p:pic>
        <p:nvPicPr>
          <p:cNvPr id="5" name="Picture 4" descr="A black and gold background with squares&#10;&#10;Description automatically generated">
            <a:extLst>
              <a:ext uri="{FF2B5EF4-FFF2-40B4-BE49-F238E27FC236}">
                <a16:creationId xmlns:a16="http://schemas.microsoft.com/office/drawing/2014/main" id="{889E139F-5725-657B-4A74-293B013FED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23435"/>
          <a:stretch/>
        </p:blipFill>
        <p:spPr>
          <a:xfrm>
            <a:off x="-14482" y="6051982"/>
            <a:ext cx="7566397" cy="806018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041ECF1A-9020-C262-D588-1CC9B6FF9B7C}"/>
              </a:ext>
            </a:extLst>
          </p:cNvPr>
          <p:cNvSpPr txBox="1"/>
          <p:nvPr userDrawn="1"/>
        </p:nvSpPr>
        <p:spPr>
          <a:xfrm>
            <a:off x="666657" y="6429633"/>
            <a:ext cx="4805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Departamento de Operações do Mercado Aberto (Demab)</a:t>
            </a:r>
          </a:p>
        </p:txBody>
      </p:sp>
    </p:spTree>
    <p:extLst>
      <p:ext uri="{BB962C8B-B14F-4D97-AF65-F5344CB8AC3E}">
        <p14:creationId xmlns:p14="http://schemas.microsoft.com/office/powerpoint/2010/main" val="1523414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E TEXTO COM FOTO AZ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background with squares&#10;&#10;Description automatically generated">
            <a:extLst>
              <a:ext uri="{FF2B5EF4-FFF2-40B4-BE49-F238E27FC236}">
                <a16:creationId xmlns:a16="http://schemas.microsoft.com/office/drawing/2014/main" id="{F2E67CA6-7EC4-4A5A-6A22-C0199620B8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205747-3F99-9740-CA15-B0AD30B46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2391"/>
            <a:ext cx="5782519" cy="384086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B00BA-6B8D-527A-53EC-EA6667443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9436" y="1840375"/>
            <a:ext cx="5691283" cy="376429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FAC7F-C1B6-7002-F007-C9E5FD2AE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3082A-AC63-6D4A-AEE7-BEB9FED88B03}" type="slidenum">
              <a:rPr lang="en-BR" smtClean="0"/>
              <a:t>‹nº›</a:t>
            </a:fld>
            <a:endParaRPr lang="en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7F3D38-1E84-C8A8-61CE-5B87732960B5}"/>
              </a:ext>
            </a:extLst>
          </p:cNvPr>
          <p:cNvSpPr/>
          <p:nvPr userDrawn="1"/>
        </p:nvSpPr>
        <p:spPr>
          <a:xfrm>
            <a:off x="0" y="1194690"/>
            <a:ext cx="792480" cy="384085"/>
          </a:xfrm>
          <a:prstGeom prst="rect">
            <a:avLst/>
          </a:prstGeom>
          <a:solidFill>
            <a:srgbClr val="DBC2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E76E02-0CD8-F745-152C-718AAF72FF91}"/>
              </a:ext>
            </a:extLst>
          </p:cNvPr>
          <p:cNvSpPr/>
          <p:nvPr userDrawn="1"/>
        </p:nvSpPr>
        <p:spPr>
          <a:xfrm>
            <a:off x="7551915" y="0"/>
            <a:ext cx="4640085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r>
              <a:rPr lang="en-BR" dirty="0"/>
              <a:t>oto aqui</a:t>
            </a:r>
          </a:p>
        </p:txBody>
      </p:sp>
      <p:pic>
        <p:nvPicPr>
          <p:cNvPr id="10" name="Picture 9" descr="A black and white logo&#10;&#10;Description automatically generated">
            <a:extLst>
              <a:ext uri="{FF2B5EF4-FFF2-40B4-BE49-F238E27FC236}">
                <a16:creationId xmlns:a16="http://schemas.microsoft.com/office/drawing/2014/main" id="{D8CBB469-B0DE-2665-AB0D-98FF369B00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8200" y="247275"/>
            <a:ext cx="2387718" cy="571461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2EA5113-238C-FCE3-BB82-248CC2CFB99F}"/>
              </a:ext>
            </a:extLst>
          </p:cNvPr>
          <p:cNvSpPr txBox="1"/>
          <p:nvPr userDrawn="1"/>
        </p:nvSpPr>
        <p:spPr>
          <a:xfrm>
            <a:off x="666657" y="6429633"/>
            <a:ext cx="4805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Departamento de Operações do Mercado Aberto (Demab)</a:t>
            </a:r>
          </a:p>
        </p:txBody>
      </p:sp>
    </p:spTree>
    <p:extLst>
      <p:ext uri="{BB962C8B-B14F-4D97-AF65-F5344CB8AC3E}">
        <p14:creationId xmlns:p14="http://schemas.microsoft.com/office/powerpoint/2010/main" val="3763660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/SUBTÍTULO E TEXTO COM FOTO AZ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background with squares&#10;&#10;Description automatically generated">
            <a:extLst>
              <a:ext uri="{FF2B5EF4-FFF2-40B4-BE49-F238E27FC236}">
                <a16:creationId xmlns:a16="http://schemas.microsoft.com/office/drawing/2014/main" id="{F2E67CA6-7EC4-4A5A-6A22-C0199620B8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205747-3F99-9740-CA15-B0AD30B46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2391"/>
            <a:ext cx="5782519" cy="384086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B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B00BA-6B8D-527A-53EC-EA6667443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95959"/>
            <a:ext cx="5782519" cy="320870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R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FAC7F-C1B6-7002-F007-C9E5FD2AE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33082A-AC63-6D4A-AEE7-BEB9FED88B03}" type="slidenum">
              <a:rPr lang="en-BR" smtClean="0"/>
              <a:t>‹nº›</a:t>
            </a:fld>
            <a:endParaRPr lang="en-B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27F3D38-1E84-C8A8-61CE-5B87732960B5}"/>
              </a:ext>
            </a:extLst>
          </p:cNvPr>
          <p:cNvSpPr/>
          <p:nvPr userDrawn="1"/>
        </p:nvSpPr>
        <p:spPr>
          <a:xfrm>
            <a:off x="0" y="1194690"/>
            <a:ext cx="792480" cy="384085"/>
          </a:xfrm>
          <a:prstGeom prst="rect">
            <a:avLst/>
          </a:prstGeom>
          <a:solidFill>
            <a:srgbClr val="DBC2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FE76E02-0CD8-F745-152C-718AAF72FF91}"/>
              </a:ext>
            </a:extLst>
          </p:cNvPr>
          <p:cNvSpPr/>
          <p:nvPr userDrawn="1"/>
        </p:nvSpPr>
        <p:spPr>
          <a:xfrm>
            <a:off x="7551915" y="0"/>
            <a:ext cx="4640085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r>
              <a:rPr lang="en-BR" dirty="0"/>
              <a:t>oto aqui</a:t>
            </a:r>
          </a:p>
        </p:txBody>
      </p:sp>
      <p:pic>
        <p:nvPicPr>
          <p:cNvPr id="10" name="Picture 9" descr="A black and white logo&#10;&#10;Description automatically generated">
            <a:extLst>
              <a:ext uri="{FF2B5EF4-FFF2-40B4-BE49-F238E27FC236}">
                <a16:creationId xmlns:a16="http://schemas.microsoft.com/office/drawing/2014/main" id="{D8CBB469-B0DE-2665-AB0D-98FF369B005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8200" y="247275"/>
            <a:ext cx="2387718" cy="57146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2355972-DD42-FB39-8A9A-B5032D092AF1}"/>
              </a:ext>
            </a:extLst>
          </p:cNvPr>
          <p:cNvSpPr txBox="1">
            <a:spLocks/>
          </p:cNvSpPr>
          <p:nvPr userDrawn="1"/>
        </p:nvSpPr>
        <p:spPr>
          <a:xfrm>
            <a:off x="838200" y="1764827"/>
            <a:ext cx="5782519" cy="38408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000" dirty="0"/>
              <a:t>Click to edit Master title style</a:t>
            </a:r>
            <a:endParaRPr lang="en-BR" sz="20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552AA02-415A-9728-A5B2-D61D9D9751A5}"/>
              </a:ext>
            </a:extLst>
          </p:cNvPr>
          <p:cNvSpPr txBox="1"/>
          <p:nvPr userDrawn="1"/>
        </p:nvSpPr>
        <p:spPr>
          <a:xfrm>
            <a:off x="666657" y="6429633"/>
            <a:ext cx="4805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Departamento de Operações do Mercado Aberto (Demab)</a:t>
            </a:r>
          </a:p>
        </p:txBody>
      </p:sp>
    </p:spTree>
    <p:extLst>
      <p:ext uri="{BB962C8B-B14F-4D97-AF65-F5344CB8AC3E}">
        <p14:creationId xmlns:p14="http://schemas.microsoft.com/office/powerpoint/2010/main" val="472916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ABELA - BG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1022D38-78B5-ADA5-9669-776375849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84086"/>
          </a:xfrm>
        </p:spPr>
        <p:txBody>
          <a:bodyPr>
            <a:noAutofit/>
          </a:bodyPr>
          <a:lstStyle>
            <a:lvl1pPr>
              <a:defRPr sz="2800" b="1">
                <a:solidFill>
                  <a:srgbClr val="002E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B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F55F01-3B00-52FB-C24B-967A4D51BD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00334" y="-399931"/>
            <a:ext cx="2554175" cy="18326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77A8A94-D497-656D-1FAA-6542B6CA3877}"/>
              </a:ext>
            </a:extLst>
          </p:cNvPr>
          <p:cNvSpPr/>
          <p:nvPr userDrawn="1"/>
        </p:nvSpPr>
        <p:spPr>
          <a:xfrm>
            <a:off x="0" y="341629"/>
            <a:ext cx="792480" cy="384085"/>
          </a:xfrm>
          <a:prstGeom prst="rect">
            <a:avLst/>
          </a:prstGeom>
          <a:solidFill>
            <a:srgbClr val="DBC2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2C256DA0-86B1-88E2-6444-D706285EF35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200" y="1431925"/>
            <a:ext cx="10515600" cy="3787775"/>
          </a:xfrm>
        </p:spPr>
        <p:txBody>
          <a:bodyPr/>
          <a:lstStyle/>
          <a:p>
            <a:endParaRPr lang="en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FAD05DC-D135-E3EE-0458-212C4B4B77FB}"/>
              </a:ext>
            </a:extLst>
          </p:cNvPr>
          <p:cNvSpPr txBox="1"/>
          <p:nvPr userDrawn="1"/>
        </p:nvSpPr>
        <p:spPr>
          <a:xfrm>
            <a:off x="6597363" y="6344917"/>
            <a:ext cx="4805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Departamento de Operações do Mercado Aberto (Demab)</a:t>
            </a:r>
          </a:p>
        </p:txBody>
      </p:sp>
    </p:spTree>
    <p:extLst>
      <p:ext uri="{BB962C8B-B14F-4D97-AF65-F5344CB8AC3E}">
        <p14:creationId xmlns:p14="http://schemas.microsoft.com/office/powerpoint/2010/main" val="3645099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1022D38-78B5-ADA5-9669-776375849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84086"/>
          </a:xfrm>
        </p:spPr>
        <p:txBody>
          <a:bodyPr>
            <a:noAutofit/>
          </a:bodyPr>
          <a:lstStyle>
            <a:lvl1pPr>
              <a:defRPr sz="2800" b="1">
                <a:solidFill>
                  <a:srgbClr val="002E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B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F55F01-3B00-52FB-C24B-967A4D51BD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00334" y="-399931"/>
            <a:ext cx="2554175" cy="18326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77A8A94-D497-656D-1FAA-6542B6CA3877}"/>
              </a:ext>
            </a:extLst>
          </p:cNvPr>
          <p:cNvSpPr/>
          <p:nvPr userDrawn="1"/>
        </p:nvSpPr>
        <p:spPr>
          <a:xfrm>
            <a:off x="0" y="341629"/>
            <a:ext cx="792480" cy="384085"/>
          </a:xfrm>
          <a:prstGeom prst="rect">
            <a:avLst/>
          </a:prstGeom>
          <a:solidFill>
            <a:srgbClr val="DBC2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3" name="Chart Placeholder 2">
            <a:extLst>
              <a:ext uri="{FF2B5EF4-FFF2-40B4-BE49-F238E27FC236}">
                <a16:creationId xmlns:a16="http://schemas.microsoft.com/office/drawing/2014/main" id="{34F49ED8-A0DE-96B0-00D8-1040EF86D98A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838200" y="1168400"/>
            <a:ext cx="10817225" cy="4897438"/>
          </a:xfrm>
        </p:spPr>
        <p:txBody>
          <a:bodyPr/>
          <a:lstStyle/>
          <a:p>
            <a:endParaRPr lang="en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18E0710E-E256-4387-FF2C-2CC74278D0F8}"/>
              </a:ext>
            </a:extLst>
          </p:cNvPr>
          <p:cNvSpPr txBox="1"/>
          <p:nvPr userDrawn="1"/>
        </p:nvSpPr>
        <p:spPr>
          <a:xfrm>
            <a:off x="6597363" y="6344917"/>
            <a:ext cx="4805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Departamento de Operações do Mercado Aberto (Demab)</a:t>
            </a:r>
          </a:p>
        </p:txBody>
      </p:sp>
    </p:spTree>
    <p:extLst>
      <p:ext uri="{BB962C8B-B14F-4D97-AF65-F5344CB8AC3E}">
        <p14:creationId xmlns:p14="http://schemas.microsoft.com/office/powerpoint/2010/main" val="2399940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GRÁFICO 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E1022D38-78B5-ADA5-9669-776375849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84086"/>
          </a:xfrm>
        </p:spPr>
        <p:txBody>
          <a:bodyPr>
            <a:noAutofit/>
          </a:bodyPr>
          <a:lstStyle>
            <a:lvl1pPr>
              <a:defRPr sz="2800" b="1">
                <a:solidFill>
                  <a:srgbClr val="002E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BR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7F55F01-3B00-52FB-C24B-967A4D51BD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00334" y="-399931"/>
            <a:ext cx="2554175" cy="18326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77A8A94-D497-656D-1FAA-6542B6CA3877}"/>
              </a:ext>
            </a:extLst>
          </p:cNvPr>
          <p:cNvSpPr/>
          <p:nvPr userDrawn="1"/>
        </p:nvSpPr>
        <p:spPr>
          <a:xfrm>
            <a:off x="0" y="341629"/>
            <a:ext cx="792480" cy="384085"/>
          </a:xfrm>
          <a:prstGeom prst="rect">
            <a:avLst/>
          </a:prstGeom>
          <a:solidFill>
            <a:srgbClr val="DBC2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2" name="SmartArt Placeholder 11">
            <a:extLst>
              <a:ext uri="{FF2B5EF4-FFF2-40B4-BE49-F238E27FC236}">
                <a16:creationId xmlns:a16="http://schemas.microsoft.com/office/drawing/2014/main" id="{C5456854-325D-F94E-0DD0-CF0FBFAAE11A}"/>
              </a:ext>
            </a:extLst>
          </p:cNvPr>
          <p:cNvSpPr>
            <a:spLocks noGrp="1"/>
          </p:cNvSpPr>
          <p:nvPr>
            <p:ph type="dgm" sz="quarter" idx="13"/>
          </p:nvPr>
        </p:nvSpPr>
        <p:spPr>
          <a:xfrm>
            <a:off x="792163" y="1111250"/>
            <a:ext cx="10817225" cy="4987925"/>
          </a:xfrm>
        </p:spPr>
        <p:txBody>
          <a:bodyPr/>
          <a:lstStyle/>
          <a:p>
            <a:endParaRPr lang="en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D2D03D5-03F6-E5AF-9D48-4FB239906BEE}"/>
              </a:ext>
            </a:extLst>
          </p:cNvPr>
          <p:cNvSpPr txBox="1"/>
          <p:nvPr userDrawn="1"/>
        </p:nvSpPr>
        <p:spPr>
          <a:xfrm>
            <a:off x="6597363" y="6344917"/>
            <a:ext cx="4805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Departamento de Operações do Mercado Aberto (Demab)</a:t>
            </a:r>
          </a:p>
        </p:txBody>
      </p:sp>
    </p:spTree>
    <p:extLst>
      <p:ext uri="{BB962C8B-B14F-4D97-AF65-F5344CB8AC3E}">
        <p14:creationId xmlns:p14="http://schemas.microsoft.com/office/powerpoint/2010/main" val="997484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TABELA - BG AZ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background with squares&#10;&#10;Description automatically generated">
            <a:extLst>
              <a:ext uri="{FF2B5EF4-FFF2-40B4-BE49-F238E27FC236}">
                <a16:creationId xmlns:a16="http://schemas.microsoft.com/office/drawing/2014/main" id="{642A0469-F580-E8BB-E657-745A17BE7C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2455" b="2"/>
          <a:stretch/>
        </p:blipFill>
        <p:spPr>
          <a:xfrm>
            <a:off x="0" y="-156117"/>
            <a:ext cx="12192000" cy="702615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E8A038F-1A54-66A5-EDC5-06F44D4C2FDA}"/>
              </a:ext>
            </a:extLst>
          </p:cNvPr>
          <p:cNvSpPr/>
          <p:nvPr userDrawn="1"/>
        </p:nvSpPr>
        <p:spPr>
          <a:xfrm>
            <a:off x="0" y="341629"/>
            <a:ext cx="792480" cy="384085"/>
          </a:xfrm>
          <a:prstGeom prst="rect">
            <a:avLst/>
          </a:prstGeom>
          <a:solidFill>
            <a:srgbClr val="DBC27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R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E19214C-01FB-2BE6-A19B-33DF1AD0F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84086"/>
          </a:xfrm>
        </p:spPr>
        <p:txBody>
          <a:bodyPr>
            <a:noAutofit/>
          </a:bodyPr>
          <a:lstStyle>
            <a:lvl1pPr>
              <a:defRPr sz="2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BR" dirty="0"/>
          </a:p>
        </p:txBody>
      </p:sp>
      <p:pic>
        <p:nvPicPr>
          <p:cNvPr id="11" name="Picture 10" descr="A black and white logo&#10;&#10;Description automatically generated">
            <a:extLst>
              <a:ext uri="{FF2B5EF4-FFF2-40B4-BE49-F238E27FC236}">
                <a16:creationId xmlns:a16="http://schemas.microsoft.com/office/drawing/2014/main" id="{ADF180AD-0785-23C2-FABA-121626AC809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539917" y="247275"/>
            <a:ext cx="2387718" cy="571461"/>
          </a:xfrm>
          <a:prstGeom prst="rect">
            <a:avLst/>
          </a:prstGeom>
        </p:spPr>
      </p:pic>
      <p:sp>
        <p:nvSpPr>
          <p:cNvPr id="12" name="Table Placeholder 12">
            <a:extLst>
              <a:ext uri="{FF2B5EF4-FFF2-40B4-BE49-F238E27FC236}">
                <a16:creationId xmlns:a16="http://schemas.microsoft.com/office/drawing/2014/main" id="{DD4F3FDA-EC27-39B7-F831-85F1F258218D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200" y="1431925"/>
            <a:ext cx="10515600" cy="3787775"/>
          </a:xfrm>
        </p:spPr>
        <p:txBody>
          <a:bodyPr/>
          <a:lstStyle/>
          <a:p>
            <a:endParaRPr lang="en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EA80969-2125-8C86-504E-36D4B416A584}"/>
              </a:ext>
            </a:extLst>
          </p:cNvPr>
          <p:cNvSpPr txBox="1"/>
          <p:nvPr userDrawn="1"/>
        </p:nvSpPr>
        <p:spPr>
          <a:xfrm>
            <a:off x="6597363" y="6344917"/>
            <a:ext cx="4805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/>
                </a:solidFill>
              </a:rPr>
              <a:t>Departamento de Operações do Mercado Aberto (Demab)</a:t>
            </a:r>
          </a:p>
        </p:txBody>
      </p:sp>
    </p:spTree>
    <p:extLst>
      <p:ext uri="{BB962C8B-B14F-4D97-AF65-F5344CB8AC3E}">
        <p14:creationId xmlns:p14="http://schemas.microsoft.com/office/powerpoint/2010/main" val="22715440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APA DE SESS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yellow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7633710E-1614-B073-361F-C9C86C443F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914B14A2-7821-9549-0A99-257D97B57AD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02167" y="285375"/>
            <a:ext cx="2560368" cy="612782"/>
          </a:xfrm>
          <a:prstGeom prst="rect">
            <a:avLst/>
          </a:prstGeom>
        </p:spPr>
      </p:pic>
      <p:pic>
        <p:nvPicPr>
          <p:cNvPr id="8" name="Picture 7" descr="A black and blue square pattern&#10;&#10;Description automatically generated">
            <a:extLst>
              <a:ext uri="{FF2B5EF4-FFF2-40B4-BE49-F238E27FC236}">
                <a16:creationId xmlns:a16="http://schemas.microsoft.com/office/drawing/2014/main" id="{657C6806-EBB0-8241-9084-3A1370DAC8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468286" y="2258708"/>
            <a:ext cx="1841146" cy="23405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FE79183-B3BE-09DD-3920-8E74ED1615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1400" y="2766218"/>
            <a:ext cx="7453132" cy="1325563"/>
          </a:xfrm>
        </p:spPr>
        <p:txBody>
          <a:bodyPr>
            <a:normAutofit/>
          </a:bodyPr>
          <a:lstStyle>
            <a:lvl1pPr>
              <a:defRPr sz="3200" b="1">
                <a:solidFill>
                  <a:srgbClr val="002E5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  <a:br>
              <a:rPr lang="en-US" dirty="0"/>
            </a:br>
            <a:r>
              <a:rPr lang="en-US" dirty="0"/>
              <a:t>title style</a:t>
            </a:r>
            <a:endParaRPr lang="en-BR" dirty="0"/>
          </a:p>
        </p:txBody>
      </p:sp>
    </p:spTree>
    <p:extLst>
      <p:ext uri="{BB962C8B-B14F-4D97-AF65-F5344CB8AC3E}">
        <p14:creationId xmlns:p14="http://schemas.microsoft.com/office/powerpoint/2010/main" val="42781683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SLIDE DE ENCERR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background with squares&#10;&#10;Description automatically generated">
            <a:extLst>
              <a:ext uri="{FF2B5EF4-FFF2-40B4-BE49-F238E27FC236}">
                <a16:creationId xmlns:a16="http://schemas.microsoft.com/office/drawing/2014/main" id="{0986C2AD-C589-7B63-CEE9-CBDB30420B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A black and gold square pattern&#10;&#10;Description automatically generated">
            <a:extLst>
              <a:ext uri="{FF2B5EF4-FFF2-40B4-BE49-F238E27FC236}">
                <a16:creationId xmlns:a16="http://schemas.microsoft.com/office/drawing/2014/main" id="{0F97DA77-235A-0414-E0A9-61CA43EF2E7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06059" y="2323070"/>
            <a:ext cx="1611279" cy="2050214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9F980B06-0E4B-FFAB-A25B-0DCE027F2D99}"/>
              </a:ext>
            </a:extLst>
          </p:cNvPr>
          <p:cNvSpPr txBox="1">
            <a:spLocks/>
          </p:cNvSpPr>
          <p:nvPr userDrawn="1"/>
        </p:nvSpPr>
        <p:spPr>
          <a:xfrm>
            <a:off x="3396207" y="2752465"/>
            <a:ext cx="5540416" cy="1353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Obrigado!</a:t>
            </a:r>
          </a:p>
        </p:txBody>
      </p:sp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3E59B0C0-EBE6-0594-6130-95B5FFDD659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539917" y="247275"/>
            <a:ext cx="2387718" cy="571461"/>
          </a:xfrm>
          <a:prstGeom prst="rect">
            <a:avLst/>
          </a:prstGeom>
        </p:spPr>
      </p:pic>
      <p:grpSp>
        <p:nvGrpSpPr>
          <p:cNvPr id="9" name="Agrupar 8">
            <a:extLst>
              <a:ext uri="{FF2B5EF4-FFF2-40B4-BE49-F238E27FC236}">
                <a16:creationId xmlns:a16="http://schemas.microsoft.com/office/drawing/2014/main" id="{FB710F5B-989B-4BC5-4A72-028691299931}"/>
              </a:ext>
            </a:extLst>
          </p:cNvPr>
          <p:cNvGrpSpPr/>
          <p:nvPr userDrawn="1"/>
        </p:nvGrpSpPr>
        <p:grpSpPr>
          <a:xfrm>
            <a:off x="1629265" y="5662067"/>
            <a:ext cx="3292216" cy="698713"/>
            <a:chOff x="1629265" y="5662067"/>
            <a:chExt cx="3292216" cy="698713"/>
          </a:xfrm>
        </p:grpSpPr>
        <p:pic>
          <p:nvPicPr>
            <p:cNvPr id="10" name="Imagem 9" descr="Interface gráfica do usuário&#10;&#10;Descrição gerada automaticamente com confiança média">
              <a:extLst>
                <a:ext uri="{FF2B5EF4-FFF2-40B4-BE49-F238E27FC236}">
                  <a16:creationId xmlns:a16="http://schemas.microsoft.com/office/drawing/2014/main" id="{EF31DB28-BC2B-CF5F-858F-519DA9B63FF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 l="1" t="-1" r="74429" b="-6259"/>
            <a:stretch/>
          </p:blipFill>
          <p:spPr>
            <a:xfrm>
              <a:off x="1629265" y="5662067"/>
              <a:ext cx="525424" cy="698713"/>
            </a:xfrm>
            <a:prstGeom prst="rect">
              <a:avLst/>
            </a:prstGeom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A1879AA7-1ECE-098E-FA16-A25D6980A474}"/>
                </a:ext>
              </a:extLst>
            </p:cNvPr>
            <p:cNvSpPr txBox="1"/>
            <p:nvPr userDrawn="1"/>
          </p:nvSpPr>
          <p:spPr>
            <a:xfrm>
              <a:off x="2273254" y="5749813"/>
              <a:ext cx="264822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pt-BR" sz="1400" dirty="0">
                  <a:solidFill>
                    <a:schemeClr val="bg1"/>
                  </a:solidFill>
                </a:rPr>
                <a:t>Departamento de Operações do Mercado Aberto (Demab)</a:t>
              </a:r>
            </a:p>
          </p:txBody>
        </p: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id="{2B8E8ABA-122F-4838-62DD-7F20E2483127}"/>
                </a:ext>
              </a:extLst>
            </p:cNvPr>
            <p:cNvCxnSpPr/>
            <p:nvPr userDrawn="1"/>
          </p:nvCxnSpPr>
          <p:spPr>
            <a:xfrm>
              <a:off x="2257303" y="5800064"/>
              <a:ext cx="0" cy="43598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94916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A3C1EC-A605-BB5D-DCC0-3013882A3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54188-40F3-D434-A30F-ECD5B577B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8387B-D78A-1A6C-0298-4AAAD424B4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1E957D-1FB0-5146-89A1-88A0335BEFDE}" type="datetime1">
              <a:rPr lang="en-US" smtClean="0"/>
              <a:t>11/13/2025</a:t>
            </a:fld>
            <a:endParaRPr lang="en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2BAF0-0470-C11D-21E1-5D322BACD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FCA7A-5A80-E232-7306-5D0DA4344A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33082A-AC63-6D4A-AEE7-BEB9FED88B03}" type="slidenum">
              <a:rPr lang="en-BR" smtClean="0"/>
              <a:t>‹nº›</a:t>
            </a:fld>
            <a:endParaRPr lang="en-BR"/>
          </a:p>
        </p:txBody>
      </p:sp>
    </p:spTree>
    <p:extLst>
      <p:ext uri="{BB962C8B-B14F-4D97-AF65-F5344CB8AC3E}">
        <p14:creationId xmlns:p14="http://schemas.microsoft.com/office/powerpoint/2010/main" val="2413878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62" r:id="rId2"/>
    <p:sldLayoutId id="2147483680" r:id="rId3"/>
    <p:sldLayoutId id="2147483678" r:id="rId4"/>
    <p:sldLayoutId id="2147483681" r:id="rId5"/>
    <p:sldLayoutId id="2147483679" r:id="rId6"/>
    <p:sldLayoutId id="2147483682" r:id="rId7"/>
    <p:sldLayoutId id="2147483663" r:id="rId8"/>
    <p:sldLayoutId id="2147483672" r:id="rId9"/>
    <p:sldLayoutId id="2147483677" r:id="rId10"/>
    <p:sldLayoutId id="2147483664" r:id="rId11"/>
    <p:sldLayoutId id="2147483666" r:id="rId12"/>
    <p:sldLayoutId id="2147483684" r:id="rId13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jam.dev/c/eeab7259-a18c-4621-ab31-e80d94107429" TargetMode="External"/><Relationship Id="rId2" Type="http://schemas.openxmlformats.org/officeDocument/2006/relationships/hyperlink" Target="https://jam.dev/c/ab293e78-1b13-4130-a48c-165bff4eb422" TargetMode="Externa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1.png"/><Relationship Id="rId4" Type="http://schemas.openxmlformats.org/officeDocument/2006/relationships/hyperlink" Target="https://jam.dev/c/ce9bae2c-c4b4-4cd4-bd96-3c6eadfe6bd9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jam.dev/c/ebc7cffd-8cfd-4561-aa06-229fbbbd7d7b" TargetMode="External"/><Relationship Id="rId2" Type="http://schemas.openxmlformats.org/officeDocument/2006/relationships/hyperlink" Target="https://jam.dev/c/0de712ec-0f47-4ac2-9a97-ea89d57b01d9" TargetMode="Externa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jam.dev/c/566f0c16-ecc5-4217-8df4-8fd8eec41e53" TargetMode="External"/><Relationship Id="rId2" Type="http://schemas.openxmlformats.org/officeDocument/2006/relationships/hyperlink" Target="https://www.conventionalcommits.org/en/v1.0.0/" TargetMode="Externa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jam.dev/c/d08ff7f1-737c-4f3d-8596-5147c6f4a6d7" TargetMode="Externa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jam.dev/c/830b12d7-f9d6-4951-8e6d-8b49d14d4d94" TargetMode="Externa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jam.dev/c/940fc199-b47d-4a26-95f7-422a2ccbba5d" TargetMode="External"/><Relationship Id="rId2" Type="http://schemas.openxmlformats.org/officeDocument/2006/relationships/hyperlink" Target="https://jam.dev/c/ca88ffd6-a16a-4db2-8081-72cd33465c2d" TargetMode="Externa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jam.dev/c/940fc199-b47d-4a26-95f7-422a2ccbba5d" TargetMode="Externa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632F4-AB5C-16D0-EAC7-C69DA0AC7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1A054C-EC09-CF7F-8BF3-847B83723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 dirty="0"/>
              <a:t>30/07/2025</a:t>
            </a:r>
            <a:endParaRPr lang="en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83D5BD1-A0C3-FDEF-6BB5-E91556EE99F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343" y="2646"/>
            <a:ext cx="12184591" cy="6840613"/>
          </a:xfrm>
          <a:prstGeom prst="rect">
            <a:avLst/>
          </a:prstGeom>
        </p:spPr>
      </p:pic>
      <p:sp>
        <p:nvSpPr>
          <p:cNvPr id="19" name="Título 1">
            <a:extLst>
              <a:ext uri="{FF2B5EF4-FFF2-40B4-BE49-F238E27FC236}">
                <a16:creationId xmlns:a16="http://schemas.microsoft.com/office/drawing/2014/main" id="{FCBB553E-96F1-9CBF-1BC1-866E13549D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97396" y="2311677"/>
            <a:ext cx="5150012" cy="1301993"/>
          </a:xfrm>
        </p:spPr>
        <p:txBody>
          <a:bodyPr/>
          <a:lstStyle/>
          <a:p>
            <a:r>
              <a:rPr lang="pt-BR" dirty="0">
                <a:latin typeface="Arial"/>
                <a:cs typeface="Arial"/>
              </a:rPr>
              <a:t>Fluxo de trabalho</a:t>
            </a:r>
          </a:p>
        </p:txBody>
      </p:sp>
      <p:sp>
        <p:nvSpPr>
          <p:cNvPr id="21" name="Subtítulo 2">
            <a:extLst>
              <a:ext uri="{FF2B5EF4-FFF2-40B4-BE49-F238E27FC236}">
                <a16:creationId xmlns:a16="http://schemas.microsoft.com/office/drawing/2014/main" id="{E4DFC962-9DF7-21F3-57A4-AD72EBE79956}"/>
              </a:ext>
            </a:extLst>
          </p:cNvPr>
          <p:cNvSpPr txBox="1">
            <a:spLocks/>
          </p:cNvSpPr>
          <p:nvPr/>
        </p:nvSpPr>
        <p:spPr>
          <a:xfrm>
            <a:off x="3397397" y="3060767"/>
            <a:ext cx="5150012" cy="6230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rgbClr val="DBC27D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latin typeface="Arial"/>
                <a:cs typeface="Arial"/>
              </a:rPr>
              <a:t>Automação de testes do novo </a:t>
            </a:r>
            <a:r>
              <a:rPr lang="pt-BR" dirty="0" err="1">
                <a:latin typeface="Arial"/>
                <a:cs typeface="Arial"/>
              </a:rPr>
              <a:t>selic</a:t>
            </a:r>
            <a:endParaRPr lang="pt-BR" dirty="0" err="1"/>
          </a:p>
        </p:txBody>
      </p:sp>
    </p:spTree>
    <p:extLst>
      <p:ext uri="{BB962C8B-B14F-4D97-AF65-F5344CB8AC3E}">
        <p14:creationId xmlns:p14="http://schemas.microsoft.com/office/powerpoint/2010/main" val="3064039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FB522-D0C2-6101-5E89-0EC2A3C71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38A935-3092-F1C8-C8E5-D2D106E5B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"/>
                <a:cs typeface="Arial"/>
              </a:rPr>
              <a:t>Nova demanda</a:t>
            </a:r>
            <a:endParaRPr lang="pt-BR" dirty="0" err="1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420B5AB-B7BD-7B22-8021-C55657AE9358}"/>
              </a:ext>
            </a:extLst>
          </p:cNvPr>
          <p:cNvSpPr txBox="1"/>
          <p:nvPr/>
        </p:nvSpPr>
        <p:spPr>
          <a:xfrm>
            <a:off x="1678923" y="1271167"/>
            <a:ext cx="10511091" cy="49398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sz="1700" b="1" dirty="0">
                <a:solidFill>
                  <a:schemeClr val="bg1"/>
                </a:solidFill>
                <a:ea typeface="+mn-lt"/>
                <a:cs typeface="+mn-lt"/>
              </a:rPr>
              <a:t>Card no RTC</a:t>
            </a:r>
            <a:endParaRPr lang="pt-BR" b="1" dirty="0">
              <a:solidFill>
                <a:schemeClr val="bg1"/>
              </a:solidFill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criação do card para rastreio da atividade </a:t>
            </a:r>
            <a:endParaRPr lang="pt-BR" sz="1400">
              <a:solidFill>
                <a:schemeClr val="bg1"/>
              </a:solidFill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atualmente utilizamos RTC,  mas pode ser qualquer ferramenta de gestão (</a:t>
            </a:r>
            <a:r>
              <a:rPr lang="pt-BR" sz="1400" dirty="0" err="1">
                <a:solidFill>
                  <a:schemeClr val="bg1"/>
                </a:solidFill>
                <a:ea typeface="+mn-lt"/>
                <a:cs typeface="+mn-lt"/>
              </a:rPr>
              <a:t>Jira</a:t>
            </a: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pt-BR" sz="1400" dirty="0" err="1">
                <a:solidFill>
                  <a:schemeClr val="bg1"/>
                </a:solidFill>
                <a:ea typeface="+mn-lt"/>
                <a:cs typeface="+mn-lt"/>
              </a:rPr>
              <a:t>GitLab</a:t>
            </a: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pt-BR" sz="1400" dirty="0" err="1">
                <a:solidFill>
                  <a:schemeClr val="bg1"/>
                </a:solidFill>
                <a:ea typeface="+mn-lt"/>
                <a:cs typeface="+mn-lt"/>
              </a:rPr>
              <a:t>Clickup</a:t>
            </a: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, </a:t>
            </a:r>
            <a:r>
              <a:rPr lang="pt-BR" sz="1400" dirty="0" err="1">
                <a:solidFill>
                  <a:schemeClr val="bg1"/>
                </a:solidFill>
                <a:ea typeface="+mn-lt"/>
                <a:cs typeface="+mn-lt"/>
              </a:rPr>
              <a:t>etc</a:t>
            </a: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)  </a:t>
            </a:r>
            <a:endParaRPr lang="pt-BR" sz="140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demonstração: </a:t>
            </a:r>
            <a:r>
              <a:rPr lang="pt-BR" sz="1400" dirty="0">
                <a:solidFill>
                  <a:srgbClr val="C2C2C2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vídeo - card RTC</a:t>
            </a:r>
            <a:endParaRPr lang="pt-BR" sz="140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endParaRPr lang="pt-BR" sz="1700" dirty="0">
              <a:solidFill>
                <a:schemeClr val="bg1"/>
              </a:solidFill>
              <a:cs typeface="Arial" panose="020B0604020202020204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r>
              <a:rPr lang="pt-BR" sz="1700" b="1" err="1">
                <a:solidFill>
                  <a:schemeClr val="bg1"/>
                </a:solidFill>
                <a:cs typeface="Arial" panose="020B0604020202020204"/>
              </a:rPr>
              <a:t>Fetch</a:t>
            </a:r>
            <a:endParaRPr lang="pt-BR" b="1" err="1">
              <a:solidFill>
                <a:schemeClr val="bg1"/>
              </a:solidFill>
              <a:cs typeface="Arial" panose="020B0604020202020204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sincronização dos repositórios local e remoto </a:t>
            </a:r>
            <a:endParaRPr lang="pt-BR" sz="1400">
              <a:solidFill>
                <a:schemeClr val="bg1"/>
              </a:solidFill>
              <a:cs typeface="Arial" panose="020B0604020202020204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demonstração: </a:t>
            </a:r>
            <a:r>
              <a:rPr lang="pt-BR" sz="1400" dirty="0">
                <a:solidFill>
                  <a:srgbClr val="C2C2C2"/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vídeo - fetch</a:t>
            </a:r>
            <a:endParaRPr lang="pt-BR" dirty="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endParaRPr lang="pt-BR" dirty="0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r>
              <a:rPr lang="pt-BR" sz="1700" b="1" dirty="0">
                <a:solidFill>
                  <a:schemeClr val="bg1"/>
                </a:solidFill>
                <a:cs typeface="Arial" panose="020B0604020202020204"/>
              </a:rPr>
              <a:t>Update</a:t>
            </a:r>
            <a:endParaRPr lang="pt-BR" sz="1400" b="1" dirty="0">
              <a:solidFill>
                <a:schemeClr val="bg1"/>
              </a:solidFill>
              <a:cs typeface="Arial" panose="020B0604020202020204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atualização da </a:t>
            </a:r>
            <a:r>
              <a:rPr lang="pt-BR" sz="1400" dirty="0" err="1">
                <a:solidFill>
                  <a:schemeClr val="bg1"/>
                </a:solidFill>
                <a:ea typeface="+mn-lt"/>
                <a:cs typeface="+mn-lt"/>
              </a:rPr>
              <a:t>branch</a:t>
            </a: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 base do projeto</a:t>
            </a:r>
            <a:endParaRPr lang="pt-BR" dirty="0">
              <a:solidFill>
                <a:schemeClr val="bg1"/>
              </a:solidFill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atualmente utilizamos a </a:t>
            </a:r>
            <a:r>
              <a:rPr lang="pt-BR" sz="1400" dirty="0" err="1">
                <a:solidFill>
                  <a:schemeClr val="bg1"/>
                </a:solidFill>
                <a:ea typeface="+mn-lt"/>
                <a:cs typeface="+mn-lt"/>
              </a:rPr>
              <a:t>branch</a:t>
            </a: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1400" dirty="0" err="1">
                <a:solidFill>
                  <a:schemeClr val="bg1"/>
                </a:solidFill>
                <a:ea typeface="+mn-lt"/>
                <a:cs typeface="+mn-lt"/>
              </a:rPr>
              <a:t>develop</a:t>
            </a:r>
            <a:endParaRPr lang="pt-BR" sz="1400" dirty="0">
              <a:solidFill>
                <a:schemeClr val="bg1"/>
              </a:solidFill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demonstração: </a:t>
            </a:r>
            <a:r>
              <a:rPr lang="pt-BR" sz="1400" dirty="0">
                <a:solidFill>
                  <a:srgbClr val="C2C2C2"/>
                </a:solidFill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vídeo - update</a:t>
            </a:r>
            <a:endParaRPr lang="pt-BR" sz="1400" dirty="0">
              <a:solidFill>
                <a:srgbClr val="C2C2C2"/>
              </a:solidFill>
              <a:ea typeface="+mn-lt"/>
              <a:cs typeface="+mn-lt"/>
            </a:endParaRPr>
          </a:p>
          <a:p>
            <a:pPr algn="l"/>
            <a:endParaRPr lang="pt-BR" dirty="0">
              <a:cs typeface="Arial"/>
            </a:endParaRPr>
          </a:p>
        </p:txBody>
      </p:sp>
      <p:pic>
        <p:nvPicPr>
          <p:cNvPr id="6" name="Imagem 5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BEA0CBC5-E0A8-C1FD-ADE2-2891A12415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4940" y="4395150"/>
            <a:ext cx="1663816" cy="192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289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5723A-FBDD-665F-E53C-9D3A911EC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02F687-5105-5CAB-914A-19F3B4A22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"/>
                <a:cs typeface="Arial"/>
              </a:rPr>
              <a:t>Nova demanda</a:t>
            </a:r>
            <a:endParaRPr lang="pt-BR" dirty="0" err="1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9F73D2F-5B3A-1537-87B3-3A05F8540F07}"/>
              </a:ext>
            </a:extLst>
          </p:cNvPr>
          <p:cNvSpPr txBox="1"/>
          <p:nvPr/>
        </p:nvSpPr>
        <p:spPr>
          <a:xfrm>
            <a:off x="1183018" y="-2720263"/>
            <a:ext cx="10511091" cy="74159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sz="1700" b="1" dirty="0">
                <a:solidFill>
                  <a:schemeClr val="bg1"/>
                </a:solidFill>
                <a:cs typeface="Arial"/>
              </a:rPr>
              <a:t>Card no RTC</a:t>
            </a:r>
            <a:endParaRPr lang="pt-BR" b="1" dirty="0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r>
              <a:rPr lang="pt-BR" sz="1700" b="1" dirty="0" err="1">
                <a:solidFill>
                  <a:schemeClr val="bg1"/>
                </a:solidFill>
                <a:cs typeface="Arial"/>
              </a:rPr>
              <a:t>Fetch</a:t>
            </a:r>
            <a:endParaRPr lang="pt-BR" b="1" dirty="0" err="1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r>
              <a:rPr lang="pt-BR" sz="1700" b="1" dirty="0">
                <a:solidFill>
                  <a:schemeClr val="bg1"/>
                </a:solidFill>
                <a:cs typeface="Arial" panose="020B0604020202020204"/>
              </a:rPr>
              <a:t>Update</a:t>
            </a:r>
            <a:endParaRPr lang="pt-BR" sz="1400" b="1" dirty="0">
              <a:solidFill>
                <a:schemeClr val="bg1"/>
              </a:solidFill>
              <a:cs typeface="Arial" panose="020B0604020202020204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endParaRPr lang="pt-BR" sz="1700" b="1" dirty="0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endParaRPr lang="pt-BR" sz="1700" b="1" dirty="0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endParaRPr lang="pt-BR" sz="1700" b="1" dirty="0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endParaRPr lang="pt-BR" sz="1700" b="1" dirty="0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endParaRPr lang="pt-BR" sz="1700" b="1" dirty="0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endParaRPr lang="pt-BR" sz="1700" b="1" dirty="0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endParaRPr lang="pt-BR" sz="1700" b="1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endParaRPr lang="pt-BR" sz="1700" b="1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r>
              <a:rPr lang="pt-BR" sz="1700" b="1" dirty="0">
                <a:solidFill>
                  <a:schemeClr val="bg1"/>
                </a:solidFill>
                <a:ea typeface="+mn-lt"/>
                <a:cs typeface="+mn-lt"/>
              </a:rPr>
              <a:t>New </a:t>
            </a:r>
            <a:r>
              <a:rPr lang="pt-BR" sz="1700" b="1" dirty="0" err="1">
                <a:solidFill>
                  <a:schemeClr val="bg1"/>
                </a:solidFill>
                <a:ea typeface="+mn-lt"/>
                <a:cs typeface="+mn-lt"/>
              </a:rPr>
              <a:t>branch</a:t>
            </a:r>
            <a:endParaRPr lang="pt-BR" sz="1700" b="1" dirty="0" err="1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criação de </a:t>
            </a:r>
            <a:r>
              <a:rPr lang="pt-BR" sz="1400" dirty="0" err="1">
                <a:solidFill>
                  <a:schemeClr val="bg1"/>
                </a:solidFill>
                <a:ea typeface="+mn-lt"/>
                <a:cs typeface="+mn-lt"/>
              </a:rPr>
              <a:t>branch</a:t>
            </a: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 para nova demanda </a:t>
            </a:r>
            <a:endParaRPr lang="pt-BR" dirty="0">
              <a:solidFill>
                <a:schemeClr val="bg1"/>
              </a:solidFill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adotamos a notação: </a:t>
            </a:r>
            <a:r>
              <a:rPr lang="pt-BR" sz="1200" dirty="0" err="1">
                <a:solidFill>
                  <a:schemeClr val="bg1">
                    <a:lumMod val="76000"/>
                  </a:schemeClr>
                </a:solidFill>
                <a:ea typeface="+mn-lt"/>
                <a:cs typeface="+mn-lt"/>
              </a:rPr>
              <a:t>XXXXX_nome_branch</a:t>
            </a:r>
            <a:endParaRPr lang="pt-BR" sz="1400" dirty="0">
              <a:solidFill>
                <a:schemeClr val="bg1">
                  <a:lumMod val="76000"/>
                </a:schemeClr>
              </a:solidFill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pt-BR" sz="1400" dirty="0">
                <a:solidFill>
                  <a:schemeClr val="bg1"/>
                </a:solidFill>
                <a:cs typeface="Arial"/>
              </a:rPr>
              <a:t>onde XXXXX é o número do card criado, seguido de uma breve descrição do objetivo da </a:t>
            </a:r>
            <a:r>
              <a:rPr lang="pt-BR" sz="1400" dirty="0" err="1">
                <a:solidFill>
                  <a:schemeClr val="bg1"/>
                </a:solidFill>
                <a:cs typeface="Arial"/>
              </a:rPr>
              <a:t>branch</a:t>
            </a:r>
            <a:r>
              <a:rPr lang="pt-BR" sz="1400" dirty="0">
                <a:solidFill>
                  <a:schemeClr val="bg1"/>
                </a:solidFill>
                <a:cs typeface="Arial"/>
              </a:rPr>
              <a:t>, separada por '_'</a:t>
            </a: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pt-BR" sz="1400" dirty="0">
                <a:solidFill>
                  <a:schemeClr val="bg1"/>
                </a:solidFill>
                <a:cs typeface="Arial"/>
              </a:rPr>
              <a:t>demonstração: </a:t>
            </a:r>
            <a:r>
              <a:rPr lang="pt-BR" sz="1400" dirty="0">
                <a:solidFill>
                  <a:srgbClr val="C2C2C2"/>
                </a:solidFill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vídeo - new branch</a:t>
            </a: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endParaRPr lang="pt-BR" sz="1400" dirty="0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r>
              <a:rPr lang="pt-BR" sz="1700" b="1" dirty="0" err="1">
                <a:solidFill>
                  <a:schemeClr val="bg1"/>
                </a:solidFill>
                <a:cs typeface="Arial"/>
              </a:rPr>
              <a:t>Add</a:t>
            </a:r>
            <a:endParaRPr lang="pt-BR" sz="1700" dirty="0" err="1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inclusão de arquivos no controle de versão </a:t>
            </a:r>
            <a:endParaRPr lang="en-US" sz="140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pt-BR" sz="1400" dirty="0">
                <a:solidFill>
                  <a:schemeClr val="bg1"/>
                </a:solidFill>
                <a:cs typeface="Arial"/>
              </a:rPr>
              <a:t>demonstração: </a:t>
            </a:r>
            <a:r>
              <a:rPr lang="pt-BR" sz="1400" dirty="0">
                <a:solidFill>
                  <a:srgbClr val="C2C2C2"/>
                </a:solidFill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vídeo - add</a:t>
            </a:r>
          </a:p>
        </p:txBody>
      </p:sp>
      <p:pic>
        <p:nvPicPr>
          <p:cNvPr id="6" name="Imagem 5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2C19CBB5-3B9B-80B3-B1A3-EA37B2B25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4940" y="4395150"/>
            <a:ext cx="1663816" cy="1929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795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5025D-A2C3-AE8E-4C35-69531408E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4271F2-CA73-39A3-2D4B-40FB6EC01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"/>
                <a:cs typeface="Arial"/>
              </a:rPr>
              <a:t>Nova demanda</a:t>
            </a:r>
            <a:endParaRPr lang="pt-BR" dirty="0" err="1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0125C3C-D0CF-532C-3C81-86D9B7DB8C46}"/>
              </a:ext>
            </a:extLst>
          </p:cNvPr>
          <p:cNvSpPr txBox="1"/>
          <p:nvPr/>
        </p:nvSpPr>
        <p:spPr>
          <a:xfrm>
            <a:off x="1328161" y="-2248549"/>
            <a:ext cx="10511091" cy="82469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sz="1700" b="1" dirty="0">
                <a:solidFill>
                  <a:schemeClr val="bg1"/>
                </a:solidFill>
                <a:cs typeface="Arial"/>
              </a:rPr>
              <a:t>Card no RTC</a:t>
            </a:r>
            <a:endParaRPr lang="pt-BR" b="1" dirty="0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r>
              <a:rPr lang="pt-BR" sz="1700" b="1" dirty="0" err="1">
                <a:solidFill>
                  <a:schemeClr val="bg1"/>
                </a:solidFill>
                <a:cs typeface="Arial"/>
              </a:rPr>
              <a:t>Fetch</a:t>
            </a:r>
            <a:endParaRPr lang="pt-BR" b="1" dirty="0" err="1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r>
              <a:rPr lang="pt-BR" sz="1700" b="1" dirty="0">
                <a:solidFill>
                  <a:schemeClr val="bg1"/>
                </a:solidFill>
                <a:cs typeface="Arial" panose="020B0604020202020204"/>
              </a:rPr>
              <a:t>Update</a:t>
            </a:r>
            <a:endParaRPr lang="pt-BR" sz="1400" b="1" dirty="0">
              <a:solidFill>
                <a:schemeClr val="bg1"/>
              </a:solidFill>
              <a:cs typeface="Arial" panose="020B0604020202020204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r>
              <a:rPr lang="pt-BR" sz="1700" b="1" dirty="0">
                <a:solidFill>
                  <a:schemeClr val="bg1"/>
                </a:solidFill>
                <a:ea typeface="+mn-lt"/>
                <a:cs typeface="+mn-lt"/>
              </a:rPr>
              <a:t>New </a:t>
            </a:r>
            <a:r>
              <a:rPr lang="pt-BR" sz="1700" b="1" dirty="0" err="1">
                <a:solidFill>
                  <a:schemeClr val="bg1"/>
                </a:solidFill>
                <a:ea typeface="+mn-lt"/>
                <a:cs typeface="+mn-lt"/>
              </a:rPr>
              <a:t>branch</a:t>
            </a:r>
            <a:endParaRPr lang="pt-BR" sz="1700" b="1" dirty="0" err="1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r>
              <a:rPr lang="pt-BR" sz="1700" b="1" dirty="0" err="1">
                <a:solidFill>
                  <a:schemeClr val="bg1"/>
                </a:solidFill>
                <a:cs typeface="Arial"/>
              </a:rPr>
              <a:t>Add</a:t>
            </a:r>
            <a:endParaRPr lang="pt-BR" sz="1700" dirty="0" err="1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endParaRPr lang="pt-BR" sz="1700" b="1" dirty="0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endParaRPr lang="pt-BR" sz="1700" b="1" dirty="0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endParaRPr lang="pt-BR" sz="1700" b="1" dirty="0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endParaRPr lang="pt-BR" sz="1700" b="1" dirty="0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r>
              <a:rPr lang="pt-BR" sz="1700" b="1" dirty="0" err="1">
                <a:solidFill>
                  <a:schemeClr val="bg1"/>
                </a:solidFill>
                <a:cs typeface="Arial"/>
              </a:rPr>
              <a:t>Commit</a:t>
            </a:r>
            <a:endParaRPr lang="pt-BR" sz="1700" dirty="0" err="1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pt-BR" sz="1400" dirty="0">
                <a:solidFill>
                  <a:schemeClr val="bg1"/>
                </a:solidFill>
                <a:cs typeface="Arial"/>
              </a:rPr>
              <a:t>salvamento local das alterações</a:t>
            </a:r>
            <a:endParaRPr lang="en-US" sz="140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pt-BR" sz="1400" dirty="0">
                <a:solidFill>
                  <a:schemeClr val="bg1"/>
                </a:solidFill>
                <a:cs typeface="Arial"/>
              </a:rPr>
              <a:t>selecione apenas os arquivos realmente necessárias para o </a:t>
            </a:r>
            <a:r>
              <a:rPr lang="pt-BR" sz="1400" dirty="0" err="1">
                <a:solidFill>
                  <a:schemeClr val="bg1"/>
                </a:solidFill>
                <a:cs typeface="Arial"/>
              </a:rPr>
              <a:t>commit</a:t>
            </a:r>
            <a:endParaRPr lang="pt-BR" sz="1400" dirty="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pt-BR" sz="1400" dirty="0">
                <a:solidFill>
                  <a:schemeClr val="bg1"/>
                </a:solidFill>
                <a:cs typeface="Arial"/>
              </a:rPr>
              <a:t>atenção  para não realizar </a:t>
            </a:r>
            <a:r>
              <a:rPr lang="pt-BR" sz="1400" dirty="0" err="1">
                <a:solidFill>
                  <a:schemeClr val="bg1"/>
                </a:solidFill>
                <a:cs typeface="Arial"/>
              </a:rPr>
              <a:t>commit</a:t>
            </a:r>
            <a:r>
              <a:rPr lang="pt-BR" sz="1400" dirty="0">
                <a:solidFill>
                  <a:schemeClr val="bg1"/>
                </a:solidFill>
                <a:cs typeface="Arial"/>
              </a:rPr>
              <a:t> com erro de compilação </a:t>
            </a: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pt-BR" sz="1400" dirty="0">
                <a:solidFill>
                  <a:schemeClr val="bg1"/>
                </a:solidFill>
                <a:cs typeface="Arial"/>
              </a:rPr>
              <a:t>seguir o </a:t>
            </a:r>
            <a:r>
              <a:rPr lang="pt-BR" sz="1400" dirty="0" err="1">
                <a:solidFill>
                  <a:schemeClr val="bg1"/>
                </a:solidFill>
                <a:cs typeface="Arial"/>
              </a:rPr>
              <a:t>conventional</a:t>
            </a:r>
            <a:r>
              <a:rPr lang="pt-BR" sz="1400" dirty="0">
                <a:solidFill>
                  <a:schemeClr val="bg1"/>
                </a:solidFill>
                <a:cs typeface="Arial"/>
              </a:rPr>
              <a:t> </a:t>
            </a:r>
            <a:r>
              <a:rPr lang="pt-BR" sz="1400" dirty="0" err="1">
                <a:solidFill>
                  <a:schemeClr val="bg1"/>
                </a:solidFill>
                <a:cs typeface="Arial"/>
              </a:rPr>
              <a:t>commits</a:t>
            </a:r>
            <a:r>
              <a:rPr lang="pt-BR" sz="1400" dirty="0">
                <a:solidFill>
                  <a:schemeClr val="bg1"/>
                </a:solidFill>
                <a:cs typeface="Arial"/>
              </a:rPr>
              <a:t>: </a:t>
            </a:r>
            <a:r>
              <a:rPr lang="pt-BR" sz="1400" dirty="0">
                <a:solidFill>
                  <a:srgbClr val="C2C2C2"/>
                </a:solidFill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https://www.conventionalcommits.org/en/v1.0.0/</a:t>
            </a:r>
            <a:endParaRPr lang="en-US" sz="1400">
              <a:solidFill>
                <a:srgbClr val="000000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pt-BR" sz="1400" dirty="0">
                <a:solidFill>
                  <a:schemeClr val="bg1"/>
                </a:solidFill>
                <a:cs typeface="Arial"/>
              </a:rPr>
              <a:t>comentário de feature: </a:t>
            </a:r>
            <a:r>
              <a:rPr lang="pt-BR" sz="1200" dirty="0">
                <a:solidFill>
                  <a:schemeClr val="bg1">
                    <a:lumMod val="76000"/>
                  </a:schemeClr>
                </a:solidFill>
                <a:cs typeface="Arial"/>
              </a:rPr>
              <a:t>feat: XXXXX breve descrição da feature entregue</a:t>
            </a:r>
            <a:endParaRPr lang="en-US" sz="1200">
              <a:solidFill>
                <a:schemeClr val="bg1">
                  <a:lumMod val="76000"/>
                </a:schemeClr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pt-BR" sz="1400" dirty="0">
                <a:solidFill>
                  <a:schemeClr val="bg1"/>
                </a:solidFill>
                <a:cs typeface="Arial"/>
              </a:rPr>
              <a:t>comentário de correção: </a:t>
            </a:r>
            <a:r>
              <a:rPr lang="pt-BR" sz="1200" dirty="0" err="1">
                <a:solidFill>
                  <a:schemeClr val="bg1">
                    <a:lumMod val="76000"/>
                  </a:schemeClr>
                </a:solidFill>
                <a:cs typeface="Arial"/>
              </a:rPr>
              <a:t>fix</a:t>
            </a:r>
            <a:r>
              <a:rPr lang="pt-BR" sz="1200" dirty="0">
                <a:solidFill>
                  <a:schemeClr val="bg1">
                    <a:lumMod val="76000"/>
                  </a:schemeClr>
                </a:solidFill>
                <a:cs typeface="Arial"/>
              </a:rPr>
              <a:t>: XXXXX breve descrição da correção</a:t>
            </a:r>
            <a:endParaRPr lang="en-US" sz="1200">
              <a:solidFill>
                <a:schemeClr val="bg1">
                  <a:lumMod val="76000"/>
                </a:schemeClr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pt-BR" sz="1400" dirty="0">
                <a:solidFill>
                  <a:schemeClr val="bg1"/>
                </a:solidFill>
                <a:cs typeface="Arial"/>
              </a:rPr>
              <a:t>demonstração: </a:t>
            </a:r>
            <a:r>
              <a:rPr lang="pt-BR" sz="1400" dirty="0">
                <a:solidFill>
                  <a:srgbClr val="C2C2C2"/>
                </a:solidFill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vídeo - commit e push</a:t>
            </a: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endParaRPr lang="pt-BR" sz="1400" dirty="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endParaRPr lang="pt-BR" sz="1400" dirty="0">
              <a:solidFill>
                <a:srgbClr val="C2C2C2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r>
              <a:rPr lang="pt-BR" sz="1700" b="1" dirty="0" err="1">
                <a:solidFill>
                  <a:schemeClr val="bg1"/>
                </a:solidFill>
                <a:cs typeface="Arial"/>
              </a:rPr>
              <a:t>Push</a:t>
            </a:r>
            <a:endParaRPr lang="pt-BR" sz="1700" dirty="0" err="1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pt-BR" sz="1400" dirty="0">
                <a:solidFill>
                  <a:schemeClr val="bg1"/>
                </a:solidFill>
                <a:cs typeface="Arial"/>
              </a:rPr>
              <a:t>envia os </a:t>
            </a:r>
            <a:r>
              <a:rPr lang="pt-BR" sz="1400" dirty="0" err="1">
                <a:solidFill>
                  <a:schemeClr val="bg1"/>
                </a:solidFill>
                <a:cs typeface="Arial"/>
              </a:rPr>
              <a:t>commits</a:t>
            </a:r>
            <a:r>
              <a:rPr lang="pt-BR" sz="1400" dirty="0">
                <a:solidFill>
                  <a:schemeClr val="bg1"/>
                </a:solidFill>
                <a:cs typeface="Arial"/>
              </a:rPr>
              <a:t> locais para o repositório remoto</a:t>
            </a:r>
            <a:endParaRPr lang="en-US" sz="1400" dirty="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pt-BR" sz="1400" dirty="0">
                <a:solidFill>
                  <a:schemeClr val="bg1"/>
                </a:solidFill>
                <a:cs typeface="Arial"/>
              </a:rPr>
              <a:t>demonstração: </a:t>
            </a:r>
            <a:r>
              <a:rPr lang="pt-BR" sz="1400" dirty="0">
                <a:solidFill>
                  <a:srgbClr val="C2C2C2"/>
                </a:solidFill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vídeo - commit e push</a:t>
            </a:r>
          </a:p>
          <a:p>
            <a:pPr marL="285750" indent="-285750">
              <a:lnSpc>
                <a:spcPct val="150000"/>
              </a:lnSpc>
              <a:buAutoNum type="arabicPeriod"/>
            </a:pPr>
            <a:endParaRPr lang="pt-BR" sz="1400" dirty="0">
              <a:solidFill>
                <a:schemeClr val="bg1"/>
              </a:solidFill>
              <a:cs typeface="Arial"/>
            </a:endParaRPr>
          </a:p>
        </p:txBody>
      </p:sp>
      <p:pic>
        <p:nvPicPr>
          <p:cNvPr id="6" name="Imagem 5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C2E4DC56-AADE-D97B-E0CC-E4DA57B92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4940" y="4395150"/>
            <a:ext cx="1663816" cy="1929821"/>
          </a:xfrm>
          <a:prstGeom prst="rect">
            <a:avLst/>
          </a:prstGeom>
        </p:spPr>
      </p:pic>
      <p:pic>
        <p:nvPicPr>
          <p:cNvPr id="7" name="Imagem 6" descr="Aviso">
            <a:extLst>
              <a:ext uri="{FF2B5EF4-FFF2-40B4-BE49-F238E27FC236}">
                <a16:creationId xmlns:a16="http://schemas.microsoft.com/office/drawing/2014/main" id="{60AE4A6F-6337-468B-75CE-4F022FB066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9511" y="2269370"/>
            <a:ext cx="347738" cy="29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510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911F8-2CFD-A3A2-1908-AD1784095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206CCA-7788-AEA5-BE34-70B0233C8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"/>
                <a:cs typeface="Arial"/>
              </a:rPr>
              <a:t>Nova demanda</a:t>
            </a:r>
            <a:endParaRPr lang="pt-BR" dirty="0" err="1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068D1F2-A29A-9E50-DD30-1D53B6AD3BDD}"/>
              </a:ext>
            </a:extLst>
          </p:cNvPr>
          <p:cNvSpPr txBox="1"/>
          <p:nvPr/>
        </p:nvSpPr>
        <p:spPr>
          <a:xfrm>
            <a:off x="1678923" y="-4945787"/>
            <a:ext cx="10511091" cy="93318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sz="1700" b="1" dirty="0">
                <a:solidFill>
                  <a:schemeClr val="bg1"/>
                </a:solidFill>
                <a:cs typeface="Arial"/>
              </a:rPr>
              <a:t>Card no RTC</a:t>
            </a:r>
            <a:endParaRPr lang="pt-BR" b="1" dirty="0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r>
              <a:rPr lang="pt-BR" sz="1700" b="1" dirty="0" err="1">
                <a:solidFill>
                  <a:schemeClr val="bg1"/>
                </a:solidFill>
                <a:cs typeface="Arial"/>
              </a:rPr>
              <a:t>Fetch</a:t>
            </a:r>
            <a:endParaRPr lang="pt-BR" b="1" dirty="0" err="1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r>
              <a:rPr lang="pt-BR" sz="1700" b="1" dirty="0">
                <a:solidFill>
                  <a:schemeClr val="bg1"/>
                </a:solidFill>
                <a:cs typeface="Arial" panose="020B0604020202020204"/>
              </a:rPr>
              <a:t>Update</a:t>
            </a:r>
            <a:endParaRPr lang="pt-BR" sz="1400" b="1" dirty="0">
              <a:solidFill>
                <a:schemeClr val="bg1"/>
              </a:solidFill>
              <a:cs typeface="Arial" panose="020B0604020202020204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r>
              <a:rPr lang="pt-BR" sz="1700" b="1" dirty="0">
                <a:solidFill>
                  <a:schemeClr val="bg1"/>
                </a:solidFill>
                <a:ea typeface="+mn-lt"/>
                <a:cs typeface="+mn-lt"/>
              </a:rPr>
              <a:t>New </a:t>
            </a:r>
            <a:r>
              <a:rPr lang="pt-BR" sz="1700" b="1" dirty="0" err="1">
                <a:solidFill>
                  <a:schemeClr val="bg1"/>
                </a:solidFill>
                <a:ea typeface="+mn-lt"/>
                <a:cs typeface="+mn-lt"/>
              </a:rPr>
              <a:t>branch</a:t>
            </a:r>
            <a:endParaRPr lang="pt-BR" sz="1700" b="1" dirty="0" err="1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r>
              <a:rPr lang="pt-BR" sz="1700" b="1" dirty="0" err="1">
                <a:solidFill>
                  <a:schemeClr val="bg1"/>
                </a:solidFill>
                <a:cs typeface="Arial"/>
              </a:rPr>
              <a:t>Add</a:t>
            </a:r>
            <a:endParaRPr lang="pt-BR" sz="1700" dirty="0" err="1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r>
              <a:rPr lang="pt-BR" sz="1700" b="1" dirty="0" err="1">
                <a:solidFill>
                  <a:schemeClr val="bg1"/>
                </a:solidFill>
                <a:cs typeface="Arial"/>
              </a:rPr>
              <a:t>Commit</a:t>
            </a:r>
            <a:endParaRPr lang="pt-BR" sz="1700" dirty="0" err="1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r>
              <a:rPr lang="pt-BR" sz="1700" b="1" dirty="0" err="1">
                <a:solidFill>
                  <a:schemeClr val="bg1"/>
                </a:solidFill>
                <a:cs typeface="Arial"/>
              </a:rPr>
              <a:t>Push</a:t>
            </a:r>
            <a:endParaRPr lang="pt-BR" sz="1700" dirty="0" err="1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endParaRPr lang="pt-BR" sz="1400" dirty="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endParaRPr lang="pt-BR" sz="1400" dirty="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endParaRPr lang="pt-BR" sz="1400" dirty="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endParaRPr lang="pt-BR" sz="1400" dirty="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endParaRPr lang="pt-BR" sz="1400" dirty="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endParaRPr lang="pt-BR" sz="1400" dirty="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endParaRPr lang="pt-BR" sz="1400" dirty="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endParaRPr lang="pt-BR" sz="1400" dirty="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endParaRPr lang="pt-BR" sz="1400" dirty="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endParaRPr lang="pt-BR" sz="1400" dirty="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endParaRPr lang="pt-BR" sz="1400" dirty="0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r>
              <a:rPr lang="pt-BR" sz="1700" b="1" dirty="0">
                <a:solidFill>
                  <a:schemeClr val="bg1"/>
                </a:solidFill>
                <a:cs typeface="Arial"/>
              </a:rPr>
              <a:t>Merge </a:t>
            </a:r>
            <a:r>
              <a:rPr lang="pt-BR" sz="1700" b="1" dirty="0" err="1">
                <a:solidFill>
                  <a:schemeClr val="bg1"/>
                </a:solidFill>
                <a:cs typeface="Arial"/>
              </a:rPr>
              <a:t>Request</a:t>
            </a:r>
            <a:endParaRPr lang="pt-BR" sz="1700" dirty="0" err="1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solicitação de revisão e integração do código</a:t>
            </a:r>
            <a:endParaRPr lang="en-US" sz="1400" dirty="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pt-BR" sz="1400" dirty="0">
                <a:solidFill>
                  <a:schemeClr val="bg1"/>
                </a:solidFill>
                <a:cs typeface="Arial"/>
              </a:rPr>
              <a:t>selecionar </a:t>
            </a:r>
            <a:r>
              <a:rPr lang="pt-BR" sz="1400" dirty="0" err="1">
                <a:solidFill>
                  <a:schemeClr val="bg1"/>
                </a:solidFill>
                <a:cs typeface="Arial"/>
              </a:rPr>
              <a:t>branch</a:t>
            </a:r>
            <a:r>
              <a:rPr lang="pt-BR" sz="1400" dirty="0">
                <a:solidFill>
                  <a:schemeClr val="bg1"/>
                </a:solidFill>
                <a:cs typeface="Arial"/>
              </a:rPr>
              <a:t> </a:t>
            </a:r>
            <a:r>
              <a:rPr lang="pt-BR" sz="1400" dirty="0" err="1">
                <a:solidFill>
                  <a:schemeClr val="bg1"/>
                </a:solidFill>
                <a:cs typeface="Arial"/>
              </a:rPr>
              <a:t>develop</a:t>
            </a:r>
            <a:endParaRPr lang="pt-BR" sz="140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pt-BR" sz="1400" dirty="0">
                <a:solidFill>
                  <a:schemeClr val="bg1"/>
                </a:solidFill>
                <a:cs typeface="Arial"/>
              </a:rPr>
              <a:t>preencher com o texto abaixo (vídeo detalha melhor o processo)</a:t>
            </a: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pt-BR" sz="1400" dirty="0">
                <a:solidFill>
                  <a:schemeClr val="bg1"/>
                </a:solidFill>
                <a:cs typeface="Arial"/>
              </a:rPr>
              <a:t>atribuir-se como responsável (</a:t>
            </a:r>
            <a:r>
              <a:rPr lang="pt-BR" sz="1400" dirty="0" err="1">
                <a:solidFill>
                  <a:schemeClr val="bg1"/>
                </a:solidFill>
                <a:ea typeface="+mn-lt"/>
                <a:cs typeface="+mn-lt"/>
              </a:rPr>
              <a:t>assignee</a:t>
            </a: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)</a:t>
            </a:r>
            <a:r>
              <a:rPr lang="pt-BR" sz="1400" dirty="0">
                <a:solidFill>
                  <a:schemeClr val="bg1"/>
                </a:solidFill>
                <a:cs typeface="Arial"/>
              </a:rPr>
              <a:t> da </a:t>
            </a:r>
            <a:r>
              <a:rPr lang="pt-BR" sz="1400" dirty="0" err="1">
                <a:solidFill>
                  <a:schemeClr val="bg1"/>
                </a:solidFill>
                <a:cs typeface="Arial"/>
              </a:rPr>
              <a:t>mr</a:t>
            </a:r>
            <a:endParaRPr lang="pt-BR" sz="1400" dirty="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pt-BR" sz="1400" dirty="0">
                <a:solidFill>
                  <a:schemeClr val="bg1"/>
                </a:solidFill>
                <a:cs typeface="Arial"/>
              </a:rPr>
              <a:t>atribuir um revisor (</a:t>
            </a:r>
            <a:r>
              <a:rPr lang="pt-BR" sz="1400" dirty="0" err="1">
                <a:solidFill>
                  <a:schemeClr val="bg1"/>
                </a:solidFill>
                <a:ea typeface="+mn-lt"/>
                <a:cs typeface="+mn-lt"/>
              </a:rPr>
              <a:t>reviewer</a:t>
            </a: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), se necessário</a:t>
            </a: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pt-BR" sz="1400" dirty="0">
                <a:solidFill>
                  <a:schemeClr val="bg1"/>
                </a:solidFill>
                <a:cs typeface="Arial"/>
              </a:rPr>
              <a:t>comentar o card com a MR liberada para revisão</a:t>
            </a: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pt-BR" sz="1400" dirty="0">
                <a:solidFill>
                  <a:schemeClr val="bg1"/>
                </a:solidFill>
                <a:cs typeface="Arial"/>
              </a:rPr>
              <a:t>demonstração: </a:t>
            </a:r>
            <a:r>
              <a:rPr lang="pt-BR" sz="1400" dirty="0">
                <a:solidFill>
                  <a:srgbClr val="C2C2C2"/>
                </a:solidFill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vídeo - mr</a:t>
            </a:r>
          </a:p>
          <a:p>
            <a:pPr marL="285750" indent="-285750">
              <a:lnSpc>
                <a:spcPct val="150000"/>
              </a:lnSpc>
              <a:buAutoNum type="arabicPeriod"/>
            </a:pPr>
            <a:endParaRPr lang="pt-BR" sz="1400" dirty="0">
              <a:solidFill>
                <a:schemeClr val="bg1"/>
              </a:solidFill>
              <a:cs typeface="Arial"/>
            </a:endParaRPr>
          </a:p>
        </p:txBody>
      </p:sp>
      <p:pic>
        <p:nvPicPr>
          <p:cNvPr id="6" name="Imagem 5" descr="Uma imagem contendo Ícone&#10;&#10;O conteúdo gerado por IA pode estar incorreto.">
            <a:extLst>
              <a:ext uri="{FF2B5EF4-FFF2-40B4-BE49-F238E27FC236}">
                <a16:creationId xmlns:a16="http://schemas.microsoft.com/office/drawing/2014/main" id="{54CE84D7-6A97-45A6-288D-5EBE08E4D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4940" y="4395150"/>
            <a:ext cx="1663816" cy="1929821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C20ECEBD-E0C4-F046-8532-B647A4C28D08}"/>
              </a:ext>
            </a:extLst>
          </p:cNvPr>
          <p:cNvSpPr txBox="1"/>
          <p:nvPr/>
        </p:nvSpPr>
        <p:spPr>
          <a:xfrm>
            <a:off x="4462614" y="4396106"/>
            <a:ext cx="3264913" cy="15696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28575">
            <a:solidFill>
              <a:schemeClr val="accent2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3499211612">
                  <a:custGeom>
                    <a:avLst/>
                    <a:gdLst>
                      <a:gd name="connsiteX0" fmla="*/ 0 w 4559103"/>
                      <a:gd name="connsiteY0" fmla="*/ 0 h 1557565"/>
                      <a:gd name="connsiteX1" fmla="*/ 4559103 w 4559103"/>
                      <a:gd name="connsiteY1" fmla="*/ 0 h 1557565"/>
                      <a:gd name="connsiteX2" fmla="*/ 4559103 w 4559103"/>
                      <a:gd name="connsiteY2" fmla="*/ 1557565 h 1557565"/>
                      <a:gd name="connsiteX3" fmla="*/ 0 w 4559103"/>
                      <a:gd name="connsiteY3" fmla="*/ 1557565 h 1557565"/>
                      <a:gd name="connsiteX4" fmla="*/ 0 w 4559103"/>
                      <a:gd name="connsiteY4" fmla="*/ 0 h 155756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559103" h="1557565" fill="none" extrusionOk="0">
                        <a:moveTo>
                          <a:pt x="0" y="0"/>
                        </a:moveTo>
                        <a:cubicBezTo>
                          <a:pt x="964031" y="-149972"/>
                          <a:pt x="3774364" y="85198"/>
                          <a:pt x="4559103" y="0"/>
                        </a:cubicBezTo>
                        <a:cubicBezTo>
                          <a:pt x="4533016" y="405231"/>
                          <a:pt x="4566284" y="978845"/>
                          <a:pt x="4559103" y="1557565"/>
                        </a:cubicBezTo>
                        <a:cubicBezTo>
                          <a:pt x="3935761" y="1648941"/>
                          <a:pt x="1878427" y="1551508"/>
                          <a:pt x="0" y="1557565"/>
                        </a:cubicBezTo>
                        <a:cubicBezTo>
                          <a:pt x="-1460" y="1300495"/>
                          <a:pt x="139914" y="337363"/>
                          <a:pt x="0" y="0"/>
                        </a:cubicBezTo>
                        <a:close/>
                      </a:path>
                      <a:path w="4559103" h="1557565" stroke="0" extrusionOk="0">
                        <a:moveTo>
                          <a:pt x="0" y="0"/>
                        </a:moveTo>
                        <a:cubicBezTo>
                          <a:pt x="2097454" y="-113254"/>
                          <a:pt x="2816554" y="102601"/>
                          <a:pt x="4559103" y="0"/>
                        </a:cubicBezTo>
                        <a:cubicBezTo>
                          <a:pt x="4509376" y="301916"/>
                          <a:pt x="4427718" y="1221398"/>
                          <a:pt x="4559103" y="1557565"/>
                        </a:cubicBezTo>
                        <a:cubicBezTo>
                          <a:pt x="2819491" y="1613375"/>
                          <a:pt x="1590609" y="1726523"/>
                          <a:pt x="0" y="1557565"/>
                        </a:cubicBezTo>
                        <a:cubicBezTo>
                          <a:pt x="35843" y="918863"/>
                          <a:pt x="-77414" y="278211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**RTC:**</a:t>
            </a:r>
            <a:endParaRPr lang="pt-BR" sz="1200" dirty="0">
              <a:solidFill>
                <a:schemeClr val="tx1">
                  <a:lumMod val="65000"/>
                  <a:lumOff val="35000"/>
                </a:schemeClr>
              </a:solidFill>
              <a:cs typeface="Arial"/>
            </a:endParaRPr>
          </a:p>
          <a:p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- 67389</a:t>
            </a:r>
            <a:endParaRPr lang="pt-BR" sz="1200" dirty="0">
              <a:solidFill>
                <a:schemeClr val="tx1">
                  <a:lumMod val="65000"/>
                  <a:lumOff val="35000"/>
                </a:schemeClr>
              </a:solidFill>
              <a:cs typeface="Arial"/>
            </a:endParaRPr>
          </a:p>
          <a:p>
            <a:endParaRPr lang="pt-BR" sz="1200" dirty="0">
              <a:solidFill>
                <a:schemeClr val="tx1">
                  <a:lumMod val="65000"/>
                  <a:lumOff val="35000"/>
                </a:schemeClr>
              </a:solidFill>
              <a:cs typeface="Arial"/>
            </a:endParaRPr>
          </a:p>
          <a:p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**Feature:**</a:t>
            </a:r>
            <a:endParaRPr lang="pt-BR" sz="1200" dirty="0">
              <a:solidFill>
                <a:schemeClr val="tx1">
                  <a:lumMod val="65000"/>
                  <a:lumOff val="35000"/>
                </a:schemeClr>
              </a:solidFill>
              <a:cs typeface="Arial"/>
            </a:endParaRPr>
          </a:p>
          <a:p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- Breve descrição do objetivo da mr.</a:t>
            </a:r>
            <a:endParaRPr lang="pt-BR" sz="1200" dirty="0">
              <a:solidFill>
                <a:schemeClr val="tx1">
                  <a:lumMod val="65000"/>
                  <a:lumOff val="35000"/>
                </a:schemeClr>
              </a:solidFill>
              <a:cs typeface="Arial"/>
            </a:endParaRPr>
          </a:p>
          <a:p>
            <a:endParaRPr lang="pt-BR" sz="1200" dirty="0">
              <a:solidFill>
                <a:schemeClr val="tx1">
                  <a:lumMod val="65000"/>
                  <a:lumOff val="35000"/>
                </a:schemeClr>
              </a:solidFill>
              <a:cs typeface="Arial"/>
            </a:endParaRPr>
          </a:p>
          <a:p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**Notes:**</a:t>
            </a:r>
            <a:endParaRPr lang="pt-BR" sz="1200" dirty="0">
              <a:solidFill>
                <a:schemeClr val="tx1">
                  <a:lumMod val="65000"/>
                  <a:lumOff val="35000"/>
                </a:schemeClr>
              </a:solidFill>
              <a:cs typeface="Arial"/>
            </a:endParaRPr>
          </a:p>
          <a:p>
            <a:r>
              <a:rPr lang="pt-BR" sz="1200" dirty="0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- Observações, evidências, instruções, </a:t>
            </a:r>
            <a:r>
              <a:rPr lang="pt-BR" sz="1200" dirty="0" err="1">
                <a:solidFill>
                  <a:schemeClr val="tx1">
                    <a:lumMod val="65000"/>
                    <a:lumOff val="35000"/>
                  </a:schemeClr>
                </a:solidFill>
                <a:ea typeface="+mn-lt"/>
                <a:cs typeface="+mn-lt"/>
              </a:rPr>
              <a:t>etc</a:t>
            </a:r>
          </a:p>
        </p:txBody>
      </p:sp>
    </p:spTree>
    <p:extLst>
      <p:ext uri="{BB962C8B-B14F-4D97-AF65-F5344CB8AC3E}">
        <p14:creationId xmlns:p14="http://schemas.microsoft.com/office/powerpoint/2010/main" val="2102511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60B37-E885-F3FF-F9AF-2FD78B0A7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E334FB-E23A-1758-28C9-22497D43B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"/>
                <a:cs typeface="Arial"/>
              </a:rPr>
              <a:t>Com demanda em andamento</a:t>
            </a:r>
            <a:endParaRPr lang="pt-BR" b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C423F01-654D-A3D1-6D5F-7A55CFA18C21}"/>
              </a:ext>
            </a:extLst>
          </p:cNvPr>
          <p:cNvSpPr txBox="1"/>
          <p:nvPr/>
        </p:nvSpPr>
        <p:spPr>
          <a:xfrm>
            <a:off x="2295781" y="1234881"/>
            <a:ext cx="10511091" cy="40834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AutoNum type="arabicPeriod"/>
            </a:pPr>
            <a:r>
              <a:rPr lang="pt-BR" sz="1700" b="1" dirty="0" err="1">
                <a:solidFill>
                  <a:schemeClr val="bg1"/>
                </a:solidFill>
                <a:cs typeface="Arial" panose="020B0604020202020204"/>
              </a:rPr>
              <a:t>Fetch</a:t>
            </a:r>
            <a:endParaRPr lang="pt-BR" sz="1700" b="1">
              <a:solidFill>
                <a:schemeClr val="bg1"/>
              </a:solidFill>
              <a:cs typeface="Arial" panose="020B0604020202020204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r>
              <a:rPr lang="pt-BR" sz="1700" b="1" dirty="0">
                <a:solidFill>
                  <a:schemeClr val="bg1"/>
                </a:solidFill>
                <a:cs typeface="Arial" panose="020B0604020202020204"/>
              </a:rPr>
              <a:t>Update</a:t>
            </a:r>
            <a:endParaRPr lang="pt-BR" sz="1400" b="1" dirty="0">
              <a:solidFill>
                <a:schemeClr val="bg1"/>
              </a:solidFill>
              <a:cs typeface="Arial" panose="020B0604020202020204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endParaRPr lang="pt-BR" sz="1700" b="1" dirty="0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r>
              <a:rPr lang="pt-BR" sz="1700" b="1" dirty="0">
                <a:solidFill>
                  <a:schemeClr val="bg1"/>
                </a:solidFill>
                <a:cs typeface="Arial"/>
              </a:rPr>
              <a:t>Merge</a:t>
            </a:r>
            <a:endParaRPr lang="pt-BR" sz="1700" dirty="0">
              <a:solidFill>
                <a:srgbClr val="000000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integração da </a:t>
            </a:r>
            <a:r>
              <a:rPr lang="pt-BR" sz="1400" dirty="0" err="1">
                <a:solidFill>
                  <a:schemeClr val="bg1"/>
                </a:solidFill>
                <a:ea typeface="+mn-lt"/>
                <a:cs typeface="+mn-lt"/>
              </a:rPr>
              <a:t>branch</a:t>
            </a: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 de trabalho com a </a:t>
            </a:r>
            <a:r>
              <a:rPr lang="pt-BR" sz="1400" dirty="0" err="1">
                <a:solidFill>
                  <a:schemeClr val="bg1"/>
                </a:solidFill>
                <a:ea typeface="+mn-lt"/>
                <a:cs typeface="+mn-lt"/>
              </a:rPr>
              <a:t>branch</a:t>
            </a: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 base, após aprovação</a:t>
            </a:r>
            <a:endParaRPr lang="pt-BR" dirty="0">
              <a:solidFill>
                <a:schemeClr val="bg1"/>
              </a:solidFill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pt-BR" sz="1400" dirty="0">
                <a:solidFill>
                  <a:schemeClr val="bg1"/>
                </a:solidFill>
                <a:cs typeface="Arial"/>
              </a:rPr>
              <a:t>resolução de conflitos no próximo slide</a:t>
            </a: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r>
              <a:rPr lang="pt-BR" sz="1400">
                <a:solidFill>
                  <a:schemeClr val="bg1"/>
                </a:solidFill>
                <a:cs typeface="Arial"/>
              </a:rPr>
              <a:t>demonstração: </a:t>
            </a:r>
            <a:r>
              <a:rPr lang="pt-BR" sz="1400" dirty="0">
                <a:solidFill>
                  <a:schemeClr val="bg1">
                    <a:lumMod val="76000"/>
                  </a:schemeClr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vídeo - merge</a:t>
            </a:r>
            <a:endParaRPr lang="pt-BR" sz="1400" dirty="0">
              <a:solidFill>
                <a:schemeClr val="bg1">
                  <a:lumMod val="76000"/>
                </a:schemeClr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,monospace"/>
              <a:buChar char="o"/>
            </a:pPr>
            <a:endParaRPr lang="pt-BR" sz="1400" dirty="0">
              <a:solidFill>
                <a:schemeClr val="bg1">
                  <a:lumMod val="76000"/>
                </a:schemeClr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AutoNum type="arabicPeriod"/>
            </a:pPr>
            <a:r>
              <a:rPr lang="pt-BR" sz="1700" b="1" dirty="0" err="1">
                <a:solidFill>
                  <a:schemeClr val="bg1"/>
                </a:solidFill>
                <a:cs typeface="Arial"/>
              </a:rPr>
              <a:t>Commit</a:t>
            </a:r>
            <a:endParaRPr lang="pt-BR" sz="1700" b="1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FontTx/>
              <a:buAutoNum type="arabicPeriod"/>
            </a:pPr>
            <a:r>
              <a:rPr lang="pt-BR" sz="1700" b="1" dirty="0" err="1">
                <a:solidFill>
                  <a:schemeClr val="bg1"/>
                </a:solidFill>
                <a:cs typeface="Arial"/>
              </a:rPr>
              <a:t>Push</a:t>
            </a:r>
            <a:endParaRPr lang="pt-BR" sz="1700" b="1">
              <a:solidFill>
                <a:schemeClr val="bg1"/>
              </a:solidFill>
              <a:cs typeface="Arial"/>
            </a:endParaRPr>
          </a:p>
          <a:p>
            <a:pPr marL="285750" indent="-285750">
              <a:lnSpc>
                <a:spcPct val="150000"/>
              </a:lnSpc>
              <a:buFontTx/>
              <a:buAutoNum type="arabicPeriod"/>
            </a:pPr>
            <a:r>
              <a:rPr lang="pt-BR" sz="1700" b="1" dirty="0">
                <a:solidFill>
                  <a:schemeClr val="bg1"/>
                </a:solidFill>
                <a:cs typeface="Arial"/>
              </a:rPr>
              <a:t>Merge </a:t>
            </a:r>
            <a:r>
              <a:rPr lang="pt-BR" sz="1700" b="1" dirty="0" err="1">
                <a:solidFill>
                  <a:schemeClr val="bg1"/>
                </a:solidFill>
                <a:cs typeface="Arial"/>
              </a:rPr>
              <a:t>Request</a:t>
            </a:r>
            <a:endParaRPr lang="pt-BR" sz="1700" b="1">
              <a:solidFill>
                <a:schemeClr val="bg1"/>
              </a:solidFill>
              <a:cs typeface="Arial"/>
            </a:endParaRPr>
          </a:p>
        </p:txBody>
      </p:sp>
      <p:pic>
        <p:nvPicPr>
          <p:cNvPr id="5" name="Imagem 4" descr="Interface gráfica do usuário, Aplicativo, Teams&#10;&#10;O conteúdo gerado por IA pode estar incorreto.">
            <a:extLst>
              <a:ext uri="{FF2B5EF4-FFF2-40B4-BE49-F238E27FC236}">
                <a16:creationId xmlns:a16="http://schemas.microsoft.com/office/drawing/2014/main" id="{8B55E220-382B-DD20-A361-421828B966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71" y="5111746"/>
            <a:ext cx="2276475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497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19144-3644-1DC2-DB5B-33E87DD01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8F8818-439D-4733-FF0E-01BC5AC20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>
                <a:latin typeface="Arial"/>
                <a:cs typeface="Arial"/>
              </a:rPr>
              <a:t>Code</a:t>
            </a:r>
            <a:r>
              <a:rPr lang="pt-BR" dirty="0">
                <a:latin typeface="Arial"/>
                <a:cs typeface="Arial"/>
              </a:rPr>
              <a:t> review</a:t>
            </a:r>
            <a:endParaRPr lang="pt-BR" dirty="0" err="1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2E1F5E8-E92D-CBD0-579A-A8A3F4D4207C}"/>
              </a:ext>
            </a:extLst>
          </p:cNvPr>
          <p:cNvSpPr txBox="1"/>
          <p:nvPr/>
        </p:nvSpPr>
        <p:spPr>
          <a:xfrm>
            <a:off x="1896637" y="1476786"/>
            <a:ext cx="10511091" cy="36702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sz="1700" b="1" dirty="0">
                <a:solidFill>
                  <a:schemeClr val="bg1"/>
                </a:solidFill>
                <a:ea typeface="+mn-lt"/>
                <a:cs typeface="+mn-lt"/>
              </a:rPr>
              <a:t>Revisão de código</a:t>
            </a:r>
            <a:endParaRPr lang="pt-BR" b="1" dirty="0">
              <a:solidFill>
                <a:schemeClr val="bg1"/>
              </a:solidFill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verificar se a MR foi criada para </a:t>
            </a:r>
            <a:r>
              <a:rPr lang="pt-BR" sz="1400" dirty="0" err="1">
                <a:solidFill>
                  <a:schemeClr val="bg1"/>
                </a:solidFill>
                <a:ea typeface="+mn-lt"/>
                <a:cs typeface="+mn-lt"/>
              </a:rPr>
              <a:t>branch</a:t>
            </a: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1400" dirty="0" err="1">
                <a:solidFill>
                  <a:schemeClr val="bg1"/>
                </a:solidFill>
                <a:ea typeface="+mn-lt"/>
                <a:cs typeface="+mn-lt"/>
              </a:rPr>
              <a:t>develop</a:t>
            </a:r>
            <a:endParaRPr lang="pt-BR" sz="1400" dirty="0" err="1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analisar detalhadamente os arquivos </a:t>
            </a:r>
            <a:r>
              <a:rPr lang="pt-BR" sz="1400" dirty="0" err="1">
                <a:solidFill>
                  <a:schemeClr val="bg1"/>
                </a:solidFill>
                <a:ea typeface="+mn-lt"/>
                <a:cs typeface="+mn-lt"/>
              </a:rPr>
              <a:t>commitados</a:t>
            </a:r>
            <a:endParaRPr lang="pt-BR" sz="1400" dirty="0">
              <a:solidFill>
                <a:schemeClr val="bg1"/>
              </a:solidFill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no caso de dúvidas, conversar com o QA responsável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se algum problema for encontrado, reprovar a MR com comentário explicativo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no caso de confirmação de sucesso na revisão, aprovar MR via </a:t>
            </a:r>
            <a:r>
              <a:rPr lang="pt-BR" sz="1400" dirty="0" err="1">
                <a:solidFill>
                  <a:schemeClr val="bg1"/>
                </a:solidFill>
                <a:ea typeface="+mn-lt"/>
                <a:cs typeface="+mn-lt"/>
              </a:rPr>
              <a:t>gitlab</a:t>
            </a:r>
            <a:endParaRPr lang="pt-BR" sz="1400" dirty="0">
              <a:solidFill>
                <a:schemeClr val="bg1"/>
              </a:solidFill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realizar o merge via </a:t>
            </a:r>
            <a:r>
              <a:rPr lang="pt-BR" sz="1400" dirty="0" err="1">
                <a:solidFill>
                  <a:schemeClr val="bg1"/>
                </a:solidFill>
                <a:ea typeface="+mn-lt"/>
                <a:cs typeface="+mn-lt"/>
              </a:rPr>
              <a:t>gitlab</a:t>
            </a: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 (pode gerar conflitos – slide com detalhes)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comentar e concluir a </a:t>
            </a:r>
            <a:r>
              <a:rPr lang="pt-BR" sz="1400" dirty="0" err="1">
                <a:solidFill>
                  <a:schemeClr val="bg1"/>
                </a:solidFill>
                <a:ea typeface="+mn-lt"/>
                <a:cs typeface="+mn-lt"/>
              </a:rPr>
              <a:t>task</a:t>
            </a: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 do RTC linkada na descrição da MR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demonstração: </a:t>
            </a:r>
            <a:r>
              <a:rPr lang="pt-BR" sz="1400" dirty="0">
                <a:solidFill>
                  <a:schemeClr val="bg1">
                    <a:lumMod val="76000"/>
                  </a:schemeClr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vídeo - code review</a:t>
            </a:r>
            <a:endParaRPr lang="pt-BR" sz="1400">
              <a:solidFill>
                <a:schemeClr val="bg1">
                  <a:lumMod val="76000"/>
                </a:schemeClr>
              </a:solidFill>
              <a:cs typeface="Arial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endParaRPr lang="pt-BR" sz="1400" dirty="0">
              <a:solidFill>
                <a:srgbClr val="C2C2C2"/>
              </a:solidFill>
              <a:cs typeface="Arial" panose="020B0604020202020204"/>
            </a:endParaRPr>
          </a:p>
          <a:p>
            <a:endParaRPr lang="pt-BR" dirty="0">
              <a:solidFill>
                <a:srgbClr val="000000"/>
              </a:solidFill>
              <a:cs typeface="Arial"/>
            </a:endParaRPr>
          </a:p>
        </p:txBody>
      </p:sp>
      <p:pic>
        <p:nvPicPr>
          <p:cNvPr id="6" name="Imagem 5" descr="Interface gráfica do usuário, Aplicativo, Teams&#10;&#10;O conteúdo gerado por IA pode estar incorreto.">
            <a:extLst>
              <a:ext uri="{FF2B5EF4-FFF2-40B4-BE49-F238E27FC236}">
                <a16:creationId xmlns:a16="http://schemas.microsoft.com/office/drawing/2014/main" id="{A7C479AA-9DD3-146C-2C24-CC4E1E69A2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471" y="5111746"/>
            <a:ext cx="2276475" cy="200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937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E048B-7568-96F6-E5A2-EA4B10797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F0FC75-737A-A13D-2A15-0F4904809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"/>
                <a:cs typeface="Arial"/>
              </a:rPr>
              <a:t>Conflitos</a:t>
            </a:r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FE1149C-85C6-180A-3526-774E6159F3AB}"/>
              </a:ext>
            </a:extLst>
          </p:cNvPr>
          <p:cNvSpPr txBox="1"/>
          <p:nvPr/>
        </p:nvSpPr>
        <p:spPr>
          <a:xfrm>
            <a:off x="1678923" y="1271167"/>
            <a:ext cx="10511091" cy="27007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sz="1700" b="1" dirty="0">
                <a:solidFill>
                  <a:schemeClr val="bg1"/>
                </a:solidFill>
                <a:ea typeface="+mn-lt"/>
                <a:cs typeface="+mn-lt"/>
              </a:rPr>
              <a:t>Resolução de conflitos</a:t>
            </a:r>
            <a:endParaRPr lang="pt-BR" b="1" dirty="0">
              <a:solidFill>
                <a:schemeClr val="bg1"/>
              </a:solidFill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pt-BR" sz="1400" dirty="0">
                <a:solidFill>
                  <a:schemeClr val="bg1"/>
                </a:solidFill>
                <a:cs typeface="Arial"/>
              </a:rPr>
              <a:t>indicado ser realizado via IDE</a:t>
            </a:r>
            <a:endParaRPr lang="pt-BR" b="1" dirty="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se for a primeira vez resolvendo conflitos, indicado que seja feito em par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deve-se ter muita atenção para realiza este processo, pois pode acarretar em perda de código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como são muitas possibilidades de resolução, o vídeo demonstrativo não contém todas elas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demonstração: FAZER VÍDEO</a:t>
            </a:r>
            <a:endParaRPr lang="pt-BR" sz="1400" dirty="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endParaRPr lang="pt-BR" sz="1400" dirty="0">
              <a:solidFill>
                <a:srgbClr val="C2C2C2"/>
              </a:solidFill>
              <a:cs typeface="Arial" panose="020B0604020202020204"/>
            </a:endParaRPr>
          </a:p>
          <a:p>
            <a:endParaRPr lang="pt-BR" dirty="0">
              <a:solidFill>
                <a:srgbClr val="000000"/>
              </a:solidFill>
              <a:cs typeface="Arial"/>
            </a:endParaRPr>
          </a:p>
        </p:txBody>
      </p:sp>
      <p:pic>
        <p:nvPicPr>
          <p:cNvPr id="5" name="Imagem 4" descr="Pessoa na frente de um laptop&#10;&#10;O conteúdo gerado por IA pode estar incorreto.">
            <a:extLst>
              <a:ext uri="{FF2B5EF4-FFF2-40B4-BE49-F238E27FC236}">
                <a16:creationId xmlns:a16="http://schemas.microsoft.com/office/drawing/2014/main" id="{06D86DC5-2D75-F27E-51BC-EB53A0DFF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35" y="5100033"/>
            <a:ext cx="264795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159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B9CB7-4A86-66BA-0DAA-AD5085EB0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2E389E-3104-AF98-17CD-D32B996A1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>
                <a:latin typeface="Arial"/>
                <a:cs typeface="Arial"/>
              </a:rPr>
              <a:t>Rollback</a:t>
            </a:r>
            <a:endParaRPr lang="pt-BR" dirty="0" err="1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511154B-C966-ABF3-1A3C-1B81B48316A5}"/>
              </a:ext>
            </a:extLst>
          </p:cNvPr>
          <p:cNvSpPr txBox="1"/>
          <p:nvPr/>
        </p:nvSpPr>
        <p:spPr>
          <a:xfrm>
            <a:off x="1896637" y="1476786"/>
            <a:ext cx="10511091" cy="17312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pt-BR" sz="1700" b="1" dirty="0">
                <a:solidFill>
                  <a:schemeClr val="bg1"/>
                </a:solidFill>
                <a:ea typeface="+mn-lt"/>
                <a:cs typeface="+mn-lt"/>
              </a:rPr>
              <a:t>Desfazendo alterações</a:t>
            </a:r>
            <a:endParaRPr lang="pt-BR" b="1" dirty="0">
              <a:solidFill>
                <a:schemeClr val="bg1"/>
              </a:solidFill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pt-BR" sz="1400" dirty="0" err="1">
                <a:solidFill>
                  <a:schemeClr val="bg1"/>
                </a:solidFill>
                <a:ea typeface="+mn-lt"/>
                <a:cs typeface="+mn-lt"/>
              </a:rPr>
              <a:t>rollback</a:t>
            </a: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 desfaz alterações para restaurar o estado anterior</a:t>
            </a:r>
            <a:endParaRPr lang="pt-BR" sz="1400" dirty="0">
              <a:solidFill>
                <a:schemeClr val="bg1"/>
              </a:solidFill>
              <a:cs typeface="Arial"/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pt-BR" sz="1400" dirty="0">
                <a:solidFill>
                  <a:schemeClr val="bg1"/>
                </a:solidFill>
                <a:ea typeface="+mn-lt"/>
                <a:cs typeface="+mn-lt"/>
              </a:rPr>
              <a:t>demonstração: </a:t>
            </a:r>
            <a:r>
              <a:rPr lang="pt-BR" sz="1400" dirty="0">
                <a:solidFill>
                  <a:schemeClr val="bg1">
                    <a:lumMod val="76000"/>
                  </a:schemeClr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vídeo - rollback</a:t>
            </a:r>
            <a:endParaRPr lang="pt-BR" sz="1400" dirty="0">
              <a:solidFill>
                <a:schemeClr val="bg1">
                  <a:lumMod val="76000"/>
                </a:schemeClr>
              </a:solidFill>
              <a:cs typeface="Arial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endParaRPr lang="pt-BR" sz="1400" dirty="0">
              <a:solidFill>
                <a:srgbClr val="C2C2C2"/>
              </a:solidFill>
              <a:cs typeface="Arial" panose="020B0604020202020204"/>
            </a:endParaRPr>
          </a:p>
          <a:p>
            <a:endParaRPr lang="pt-BR" dirty="0">
              <a:solidFill>
                <a:srgbClr val="000000"/>
              </a:solidFill>
              <a:cs typeface="Arial"/>
            </a:endParaRPr>
          </a:p>
        </p:txBody>
      </p:sp>
      <p:pic>
        <p:nvPicPr>
          <p:cNvPr id="5" name="Imagem 4" descr="Pessoa na frente de um laptop&#10;&#10;O conteúdo gerado por IA pode estar incorreto.">
            <a:extLst>
              <a:ext uri="{FF2B5EF4-FFF2-40B4-BE49-F238E27FC236}">
                <a16:creationId xmlns:a16="http://schemas.microsoft.com/office/drawing/2014/main" id="{A9BCD426-582F-67BA-87A5-175D9543A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35" y="5100033"/>
            <a:ext cx="2647950" cy="176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395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71542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SELIC">
      <a:dk1>
        <a:srgbClr val="000000"/>
      </a:dk1>
      <a:lt1>
        <a:srgbClr val="FFFFFF"/>
      </a:lt1>
      <a:dk2>
        <a:srgbClr val="DBC27D"/>
      </a:dk2>
      <a:lt2>
        <a:srgbClr val="002F5C"/>
      </a:lt2>
      <a:accent1>
        <a:srgbClr val="000000"/>
      </a:accent1>
      <a:accent2>
        <a:srgbClr val="FFB000"/>
      </a:accent2>
      <a:accent3>
        <a:srgbClr val="0351FF"/>
      </a:accent3>
      <a:accent4>
        <a:srgbClr val="8D00F2"/>
      </a:accent4>
      <a:accent5>
        <a:srgbClr val="3A3A3A"/>
      </a:accent5>
      <a:accent6>
        <a:srgbClr val="00D871"/>
      </a:accent6>
      <a:hlink>
        <a:srgbClr val="6F6F6F"/>
      </a:hlink>
      <a:folHlink>
        <a:srgbClr val="939393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280e1c7-ea34-4f7d-9898-2292416fd12e"/>
    <_x00c1_rea xmlns="8602ba4b-1401-430e-917e-211b08dbf642" xsi:nil="true"/>
    <Or_x00e7_amento xmlns="8602ba4b-1401-430e-917e-211b08dbf642" xsi:nil="true"/>
    <TaxKeywordTaxHTField xmlns="3280e1c7-ea34-4f7d-9898-2292416fd12e">
      <Terms xmlns="http://schemas.microsoft.com/office/infopath/2007/PartnerControls"/>
    </TaxKeywordTaxHTField>
    <Coment_x00e1_rios xmlns="8602ba4b-1401-430e-917e-211b08dbf642" xsi:nil="true"/>
    <Documento_x0020_cadastrado_x0020_no_x0020_Cat_x00e1_logo xmlns="1ffb1bf2-b7b8-44d3-935b-618e02ebf8eb" xsi:nil="true"/>
    <Aprovado_x003f_ xmlns="8602ba4b-1401-430e-917e-211b08dbf642">Não</Aprovado_x003f_>
    <Prev_x002e__x0020_in_x00ed_cio xmlns="8602ba4b-1401-430e-917e-211b08dbf642" xsi:nil="true"/>
    <Prev_x002e__x0020_fim xmlns="8602ba4b-1401-430e-917e-211b08dbf642" xsi:nil="true"/>
    <CategoryDescription xmlns="http://schemas.microsoft.com/sharepoint.v3" xsi:nil="true"/>
    <_dlc_DocId xmlns="255fc307-89f8-4cac-a2a3-3e62da9d6008">SELIC-1324343626-4268</_dlc_DocId>
    <_dlc_DocIdUrl xmlns="255fc307-89f8-4cac-a2a3-3e62da9d6008">
      <Url>https://home.intranet.bcb.gov.br/colab/demabdicel/_layouts/15/DocIdRedir.aspx?ID=SELIC-1324343626-4268</Url>
      <Description>SELIC-1324343626-4268</Description>
    </_dlc_DocIdUrl>
    <SharedWithUsers xmlns="255fc307-89f8-4cac-a2a3-3e62da9d6008">
      <UserInfo>
        <DisplayName>Marcus Antonio Sucupira</DisplayName>
        <AccountId>53</AccountId>
        <AccountType/>
      </UserInfo>
      <UserInfo>
        <DisplayName>Jose Roberto Brasileiro de Siqueira</DisplayName>
        <AccountId>62</AccountId>
        <AccountType/>
      </UserInfo>
    </SharedWithUsers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14A64C3DA8834468A9C4F4F976C9E19" ma:contentTypeVersion="16" ma:contentTypeDescription="Crie um novo documento." ma:contentTypeScope="" ma:versionID="0fa02cd11d6d06922540121a33e494de">
  <xsd:schema xmlns:xsd="http://www.w3.org/2001/XMLSchema" xmlns:xs="http://www.w3.org/2001/XMLSchema" xmlns:p="http://schemas.microsoft.com/office/2006/metadata/properties" xmlns:ns2="3280e1c7-ea34-4f7d-9898-2292416fd12e" xmlns:ns3="http://schemas.microsoft.com/sharepoint.v3" xmlns:ns4="8602ba4b-1401-430e-917e-211b08dbf642" xmlns:ns5="255fc307-89f8-4cac-a2a3-3e62da9d6008" xmlns:ns6="1ffb1bf2-b7b8-44d3-935b-618e02ebf8eb" targetNamespace="http://schemas.microsoft.com/office/2006/metadata/properties" ma:root="true" ma:fieldsID="95bff26a2c42878d345cc2aec68c0244" ns2:_="" ns3:_="" ns4:_="" ns5:_="" ns6:_="">
    <xsd:import namespace="3280e1c7-ea34-4f7d-9898-2292416fd12e"/>
    <xsd:import namespace="http://schemas.microsoft.com/sharepoint.v3"/>
    <xsd:import namespace="8602ba4b-1401-430e-917e-211b08dbf642"/>
    <xsd:import namespace="255fc307-89f8-4cac-a2a3-3e62da9d6008"/>
    <xsd:import namespace="1ffb1bf2-b7b8-44d3-935b-618e02ebf8eb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2:TaxKeywordTaxHTField" minOccurs="0"/>
                <xsd:element ref="ns3:CategoryDescription" minOccurs="0"/>
                <xsd:element ref="ns4:_x00c1_rea" minOccurs="0"/>
                <xsd:element ref="ns4:Aprovado_x003f_" minOccurs="0"/>
                <xsd:element ref="ns4:Prev_x002e__x0020_in_x00ed_cio" minOccurs="0"/>
                <xsd:element ref="ns4:Prev_x002e__x0020_fim" minOccurs="0"/>
                <xsd:element ref="ns4:Or_x00e7_amento" minOccurs="0"/>
                <xsd:element ref="ns4:Coment_x00e1_rios" minOccurs="0"/>
                <xsd:element ref="ns5:SharedWithUsers" minOccurs="0"/>
                <xsd:element ref="ns5:_dlc_DocId" minOccurs="0"/>
                <xsd:element ref="ns5:_dlc_DocIdUrl" minOccurs="0"/>
                <xsd:element ref="ns5:_dlc_DocIdPersistId" minOccurs="0"/>
                <xsd:element ref="ns6:Documento_x0020_cadastrado_x0020_no_x0020_Cat_x00e1_logo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80e1c7-ea34-4f7d-9898-2292416fd12e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Coluna Global de Taxonomia" ma:description="" ma:hidden="true" ma:list="{f9b4d67d-ff87-420d-95b9-90e1b0e598a0}" ma:internalName="TaxCatchAll" ma:showField="CatchAllData" ma:web="255fc307-89f8-4cac-a2a3-3e62da9d60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Coluna Global de Taxonomia1" ma:description="" ma:hidden="true" ma:list="{f9b4d67d-ff87-420d-95b9-90e1b0e598a0}" ma:internalName="TaxCatchAllLabel" ma:readOnly="true" ma:showField="CatchAllDataLabel" ma:web="255fc307-89f8-4cac-a2a3-3e62da9d600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KeywordTaxHTField" ma:index="10" nillable="true" ma:taxonomy="true" ma:internalName="TaxKeywordTaxHTField" ma:taxonomyFieldName="TaxKeyword" ma:displayName="Palavras-chave" ma:readOnly="false" ma:fieldId="{23f27201-bee3-471e-b2e7-b64fd8b7ca38}" ma:taxonomyMulti="true" ma:sspId="3a7a7e73-f764-4fdb-9e1d-e1c079f1c20e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.v3" elementFormDefault="qualified">
    <xsd:import namespace="http://schemas.microsoft.com/office/2006/documentManagement/types"/>
    <xsd:import namespace="http://schemas.microsoft.com/office/infopath/2007/PartnerControls"/>
    <xsd:element name="CategoryDescription" ma:index="12" nillable="true" ma:displayName="Descrição" ma:internalName="CategoryDescription" ma:readOnly="false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02ba4b-1401-430e-917e-211b08dbf642" elementFormDefault="qualified">
    <xsd:import namespace="http://schemas.microsoft.com/office/2006/documentManagement/types"/>
    <xsd:import namespace="http://schemas.microsoft.com/office/infopath/2007/PartnerControls"/>
    <xsd:element name="_x00c1_rea" ma:index="13" nillable="true" ma:displayName="Área" ma:format="Dropdown" ma:internalName="_x00c1_rea">
      <xsd:simpleType>
        <xsd:restriction base="dms:Choice">
          <xsd:enumeration value="Chefia"/>
          <xsd:enumeration value="Suade - Base"/>
          <xsd:enumeration value="Suade - BI"/>
          <xsd:enumeration value="Suade - Sistemas Demab"/>
          <xsd:enumeration value="Sucon - Análise"/>
          <xsd:enumeration value="Sucon - Operação"/>
          <xsd:enumeration value="Sucon - Suporte interno"/>
          <xsd:enumeration value="Sudes - Selic"/>
          <xsd:enumeration value="Sudes - Tesouro Direto"/>
          <xsd:enumeration value="Sunov"/>
          <xsd:enumeration value="Surem"/>
          <xsd:enumeration value="Sures"/>
          <xsd:enumeration value="Susut - Redes"/>
          <xsd:enumeration value="Susut - Segurança"/>
          <xsd:enumeration value="Susut - Sitemas Operacionais"/>
          <xsd:enumeration value="Susut - Banco de dados"/>
          <xsd:enumeration value="Susut - Mainframe"/>
          <xsd:enumeration value="Susut - Servidor de aplicação"/>
          <xsd:enumeration value="Suseg"/>
          <xsd:enumeration value="Suseg - Auditoria"/>
          <xsd:enumeration value="Suseg - Governança"/>
          <xsd:enumeration value="Suseg - Segurança"/>
          <xsd:enumeration value="Suseg - Projetos"/>
          <xsd:enumeration value="Dicel"/>
          <xsd:enumeration value="Sucon"/>
          <xsd:enumeration value="Sudes"/>
          <xsd:enumeration value="Suade"/>
        </xsd:restriction>
      </xsd:simpleType>
    </xsd:element>
    <xsd:element name="Aprovado_x003f_" ma:index="14" nillable="true" ma:displayName="Aprovado?" ma:default="Não" ma:hidden="true" ma:internalName="Aprovado_x003f_" ma:readOnly="false">
      <xsd:simpleType>
        <xsd:restriction base="dms:Text">
          <xsd:maxLength value="255"/>
        </xsd:restriction>
      </xsd:simpleType>
    </xsd:element>
    <xsd:element name="Prev_x002e__x0020_in_x00ed_cio" ma:index="15" nillable="true" ma:displayName="Prev. início" ma:format="DateOnly" ma:internalName="Prev_x002e__x0020_in_x00ed_cio">
      <xsd:simpleType>
        <xsd:restriction base="dms:DateTime"/>
      </xsd:simpleType>
    </xsd:element>
    <xsd:element name="Prev_x002e__x0020_fim" ma:index="16" nillable="true" ma:displayName="Prev. fim" ma:format="DateOnly" ma:internalName="Prev_x002e__x0020_fim">
      <xsd:simpleType>
        <xsd:restriction base="dms:DateTime"/>
      </xsd:simpleType>
    </xsd:element>
    <xsd:element name="Or_x00e7_amento" ma:index="17" nillable="true" ma:displayName="Previsão orçamento" ma:LCID="1046" ma:internalName="Or_x00e7_amento">
      <xsd:simpleType>
        <xsd:restriction base="dms:Currency"/>
      </xsd:simpleType>
    </xsd:element>
    <xsd:element name="Coment_x00e1_rios" ma:index="18" nillable="true" ma:displayName="Comentários" ma:hidden="true" ma:internalName="Coment_x00e1_rios" ma:readOnly="fals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fc307-89f8-4cac-a2a3-3e62da9d6008" elementFormDefault="qualified">
    <xsd:import namespace="http://schemas.microsoft.com/office/2006/documentManagement/types"/>
    <xsd:import namespace="http://schemas.microsoft.com/office/infopath/2007/PartnerControls"/>
    <xsd:element name="SharedWithUsers" ma:index="2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_dlc_DocId" ma:index="21" nillable="true" ma:displayName="Valor da ID do Documento" ma:description="O valor da ID do documento atribuída a este item." ma:internalName="_dlc_DocId" ma:readOnly="true">
      <xsd:simpleType>
        <xsd:restriction base="dms:Text"/>
      </xsd:simpleType>
    </xsd:element>
    <xsd:element name="_dlc_DocIdUrl" ma:index="22" nillable="true" ma:displayName="ID do Documento" ma:description="Link permanente para este documento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3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ffb1bf2-b7b8-44d3-935b-618e02ebf8eb" elementFormDefault="qualified">
    <xsd:import namespace="http://schemas.microsoft.com/office/2006/documentManagement/types"/>
    <xsd:import namespace="http://schemas.microsoft.com/office/infopath/2007/PartnerControls"/>
    <xsd:element name="Documento_x0020_cadastrado_x0020_no_x0020_Cat_x00e1_logo" ma:index="24" nillable="true" ma:displayName="Documento cadastrado no Catálogo" ma:format="Dropdown" ma:internalName="Documento_x0020_cadastrado_x0020_no_x0020_Cat_x00e1_logo">
      <xsd:simpleType>
        <xsd:restriction base="dms:Choice">
          <xsd:enumeration value="Sim"/>
          <xsd:enumeration value="Não"/>
          <xsd:enumeration value="Inativo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?mso-contentType ?>
<SharedContentType xmlns="Microsoft.SharePoint.Taxonomy.ContentTypeSync" SourceId="3a7a7e73-f764-4fdb-9e1d-e1c079f1c20e" ContentTypeId="0x0101" PreviousValue="false"/>
</file>

<file path=customXml/itemProps1.xml><?xml version="1.0" encoding="utf-8"?>
<ds:datastoreItem xmlns:ds="http://schemas.openxmlformats.org/officeDocument/2006/customXml" ds:itemID="{32623402-6CE8-4932-91A6-52E552EC39AE}">
  <ds:schemaRefs>
    <ds:schemaRef ds:uri="http://schemas.microsoft.com/office/2006/metadata/properties"/>
    <ds:schemaRef ds:uri="http://schemas.microsoft.com/office/infopath/2007/PartnerControls"/>
    <ds:schemaRef ds:uri="30ff6d80-d006-4239-8e50-eb4d8dc3cd35"/>
    <ds:schemaRef ds:uri="1913fcb3-db3e-479f-8518-860b569ffaf3"/>
    <ds:schemaRef ds:uri="3280e1c7-ea34-4f7d-9898-2292416fd12e"/>
    <ds:schemaRef ds:uri="8602ba4b-1401-430e-917e-211b08dbf642"/>
    <ds:schemaRef ds:uri="1ffb1bf2-b7b8-44d3-935b-618e02ebf8eb"/>
    <ds:schemaRef ds:uri="http://schemas.microsoft.com/sharepoint.v3"/>
    <ds:schemaRef ds:uri="255fc307-89f8-4cac-a2a3-3e62da9d6008"/>
  </ds:schemaRefs>
</ds:datastoreItem>
</file>

<file path=customXml/itemProps2.xml><?xml version="1.0" encoding="utf-8"?>
<ds:datastoreItem xmlns:ds="http://schemas.openxmlformats.org/officeDocument/2006/customXml" ds:itemID="{FAD604BE-B6BA-4C3A-ACD3-DC82E6269614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0C33EBF6-8247-44BC-9B96-FECE115561C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80e1c7-ea34-4f7d-9898-2292416fd12e"/>
    <ds:schemaRef ds:uri="http://schemas.microsoft.com/sharepoint.v3"/>
    <ds:schemaRef ds:uri="8602ba4b-1401-430e-917e-211b08dbf642"/>
    <ds:schemaRef ds:uri="255fc307-89f8-4cac-a2a3-3e62da9d6008"/>
    <ds:schemaRef ds:uri="1ffb1bf2-b7b8-44d3-935b-618e02ebf8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F1130C93-FEAD-426A-B84A-A4EDD5BE8959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C110AB2A-04DE-4D86-B8C1-47C815A7872D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9669</TotalTime>
  <Words>567</Words>
  <Application>Microsoft Office PowerPoint</Application>
  <PresentationFormat>Widescreen</PresentationFormat>
  <Paragraphs>160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Custom Design</vt:lpstr>
      <vt:lpstr>Fluxo de trabalho</vt:lpstr>
      <vt:lpstr>Nova demanda</vt:lpstr>
      <vt:lpstr>Nova demanda</vt:lpstr>
      <vt:lpstr>Nova demanda</vt:lpstr>
      <vt:lpstr>Nova demanda</vt:lpstr>
      <vt:lpstr>Com demanda em andamento</vt:lpstr>
      <vt:lpstr>Code review</vt:lpstr>
      <vt:lpstr>Conflitos</vt:lpstr>
      <vt:lpstr>Rollback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Barcelos</dc:creator>
  <cp:lastModifiedBy>André Luis Marçal Junior</cp:lastModifiedBy>
  <cp:revision>1271</cp:revision>
  <dcterms:created xsi:type="dcterms:W3CDTF">2024-07-25T17:38:38Z</dcterms:created>
  <dcterms:modified xsi:type="dcterms:W3CDTF">2025-11-13T19:40:47Z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0x010100B14A64C3DA8834468A9C4F4F976C9E19</vt:lpwstr>
  </property>
  <property fmtid="{D5CDD505-2E9C-101B-9397-08002B2CF9AE}" pid="3" name="_dlc_DocIdItemGuid">
    <vt:lpwstr>afe29ceb-fdd3-43d3-8868-503e8021dfa5</vt:lpwstr>
  </property>
  <property fmtid="{D5CDD505-2E9C-101B-9397-08002B2CF9AE}" pid="4" name="TaxKeyword">
    <vt:lpwstr/>
  </property>
  <property fmtid="{D5CDD505-2E9C-101B-9397-08002B2CF9AE}" pid="5" name="MSIP_Label_bc346284-7779-4f71-966e-b9d56105fa92_Enabled">
    <vt:lpwstr>true</vt:lpwstr>
  </property>
  <property fmtid="{D5CDD505-2E9C-101B-9397-08002B2CF9AE}" pid="6" name="MSIP_Label_bc346284-7779-4f71-966e-b9d56105fa92_SetDate">
    <vt:lpwstr>2025-05-12T19:12:01Z</vt:lpwstr>
  </property>
  <property fmtid="{D5CDD505-2E9C-101B-9397-08002B2CF9AE}" pid="7" name="MSIP_Label_bc346284-7779-4f71-966e-b9d56105fa92_Method">
    <vt:lpwstr>Privileged</vt:lpwstr>
  </property>
  <property fmtid="{D5CDD505-2E9C-101B-9397-08002B2CF9AE}" pid="8" name="MSIP_Label_bc346284-7779-4f71-966e-b9d56105fa92_Name">
    <vt:lpwstr>Dados Restritos</vt:lpwstr>
  </property>
  <property fmtid="{D5CDD505-2E9C-101B-9397-08002B2CF9AE}" pid="9" name="MSIP_Label_bc346284-7779-4f71-966e-b9d56105fa92_SiteId">
    <vt:lpwstr>92820d26-1774-4bfd-a7de-4e6f7755aa99</vt:lpwstr>
  </property>
  <property fmtid="{D5CDD505-2E9C-101B-9397-08002B2CF9AE}" pid="10" name="MSIP_Label_bc346284-7779-4f71-966e-b9d56105fa92_ActionId">
    <vt:lpwstr>5c693981-5dea-48c6-bdc0-3269fb6f4d36</vt:lpwstr>
  </property>
  <property fmtid="{D5CDD505-2E9C-101B-9397-08002B2CF9AE}" pid="11" name="MSIP_Label_bc346284-7779-4f71-966e-b9d56105fa92_ContentBits">
    <vt:lpwstr>0</vt:lpwstr>
  </property>
  <property fmtid="{D5CDD505-2E9C-101B-9397-08002B2CF9AE}" pid="12" name="MSIP_Label_bc346284-7779-4f71-966e-b9d56105fa92_Tag">
    <vt:lpwstr>10, 0, 1, 1</vt:lpwstr>
  </property>
</Properties>
</file>